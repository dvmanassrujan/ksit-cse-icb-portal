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5033" autoAdjust="0"/>
  </p:normalViewPr>
  <p:slideViewPr>
    <p:cSldViewPr snapToGrid="0" snapToObjects="1">
      <p:cViewPr>
        <p:scale>
          <a:sx n="75" d="100"/>
          <a:sy n="75" d="100"/>
        </p:scale>
        <p:origin x="950" y="1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613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ABEA885-BE74-0AED-C064-F5E3B0AF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503D31-228C-6A0F-0561-CA957B3E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1928812"/>
            <a:ext cx="45720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0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10829" y="69307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5EEA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925415" y="6930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60" dirty="0">
                <a:solidFill>
                  <a:srgbClr val="5E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ICB</a:t>
            </a:r>
            <a:endParaRPr lang="en-US" sz="100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48DA3140-8B6C-9371-EC3F-1F829DD7C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1" y="177653"/>
            <a:ext cx="1404271" cy="92155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CF5B8C2-9110-6A04-B2C6-45FE73E27ABD}"/>
              </a:ext>
            </a:extLst>
          </p:cNvPr>
          <p:cNvGrpSpPr/>
          <p:nvPr/>
        </p:nvGrpSpPr>
        <p:grpSpPr>
          <a:xfrm>
            <a:off x="-166307" y="1082530"/>
            <a:ext cx="12191695" cy="4623326"/>
            <a:chOff x="-166307" y="1082530"/>
            <a:chExt cx="12191695" cy="4623326"/>
          </a:xfrm>
        </p:grpSpPr>
        <p:sp>
          <p:nvSpPr>
            <p:cNvPr id="4" name="Text 2"/>
            <p:cNvSpPr/>
            <p:nvPr/>
          </p:nvSpPr>
          <p:spPr>
            <a:xfrm>
              <a:off x="822959" y="2429066"/>
              <a:ext cx="10545775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2000"/>
                </a:lnSpc>
                <a:buNone/>
              </a:pPr>
              <a:r>
                <a:rPr 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CSE (ICB) Department Integrated</a:t>
              </a:r>
              <a:endParaRPr lang="en-US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  <a:p>
              <a:pPr marL="0" indent="0" algn="ctr">
                <a:lnSpc>
                  <a:spcPct val="112000"/>
                </a:lnSpc>
                <a:buNone/>
              </a:pPr>
              <a:r>
                <a:rPr lang="en-US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Academic and Information Portal</a:t>
              </a:r>
              <a:endParaRPr lang="en-US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1891643" y="1082530"/>
              <a:ext cx="8306104" cy="8767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2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Academic information is scattered across WhatsApp groups, PDFs and different platforms — making it hard to track attendance, find study materials and access academic</a:t>
              </a:r>
              <a:r>
                <a:rPr lang="en-US" sz="28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4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resources</a:t>
              </a:r>
              <a:r>
                <a:rPr lang="en-US" sz="16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 20"/>
            <p:cNvSpPr/>
            <p:nvPr/>
          </p:nvSpPr>
          <p:spPr>
            <a:xfrm>
              <a:off x="-166307" y="3284030"/>
              <a:ext cx="12191695" cy="5669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kern="0" spc="200" dirty="0">
                  <a:solidFill>
                    <a:srgbClr val="5E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TEAM NAME &amp; MEMBERS</a:t>
              </a:r>
              <a:endParaRPr lang="en-US" sz="2400" dirty="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CFDA29D-48FB-05B1-1490-B57CA96DE805}"/>
                </a:ext>
              </a:extLst>
            </p:cNvPr>
            <p:cNvGrpSpPr/>
            <p:nvPr/>
          </p:nvGrpSpPr>
          <p:grpSpPr>
            <a:xfrm>
              <a:off x="439004" y="4791456"/>
              <a:ext cx="2618156" cy="914400"/>
              <a:chOff x="502920" y="4956048"/>
              <a:chExt cx="2618156" cy="914400"/>
            </a:xfrm>
          </p:grpSpPr>
          <p:sp>
            <p:nvSpPr>
              <p:cNvPr id="27" name="Shape 21"/>
              <p:cNvSpPr/>
              <p:nvPr/>
            </p:nvSpPr>
            <p:spPr>
              <a:xfrm>
                <a:off x="502920" y="4956048"/>
                <a:ext cx="2618156" cy="91440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8000"/>
                </a:srgbClr>
              </a:solidFill>
              <a:ln w="12700">
                <a:solidFill>
                  <a:srgbClr val="8FE3FF">
                    <a:alpha val="42000"/>
                  </a:srgbClr>
                </a:solidFill>
                <a:prstDash val="solid"/>
              </a:ln>
              <a:effectLst>
                <a:outerShdw blurRad="203200" dist="76200" dir="5400000" algn="bl" rotWithShape="0">
                  <a:srgbClr val="01030A">
                    <a:alpha val="55000"/>
                  </a:srgbClr>
                </a:outerShdw>
              </a:effectLst>
            </p:spPr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BBFF5731-33A6-AF65-B8DB-55BF61B6BD01}"/>
                  </a:ext>
                </a:extLst>
              </p:cNvPr>
              <p:cNvGrpSpPr/>
              <p:nvPr/>
            </p:nvGrpSpPr>
            <p:grpSpPr>
              <a:xfrm>
                <a:off x="1638262" y="5102352"/>
                <a:ext cx="347472" cy="347472"/>
                <a:chOff x="1638262" y="5102352"/>
                <a:chExt cx="347472" cy="347472"/>
              </a:xfrm>
            </p:grpSpPr>
            <p:sp>
              <p:nvSpPr>
                <p:cNvPr id="28" name="Shape 22"/>
                <p:cNvSpPr/>
                <p:nvPr/>
              </p:nvSpPr>
              <p:spPr>
                <a:xfrm>
                  <a:off x="1638262" y="5102352"/>
                  <a:ext cx="347472" cy="347472"/>
                </a:xfrm>
                <a:prstGeom prst="ellipse">
                  <a:avLst/>
                </a:prstGeom>
                <a:solidFill>
                  <a:srgbClr val="FFFFFF">
                    <a:alpha val="12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29" name="Image 4" descr="icons/school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1414" y="5175504"/>
                  <a:ext cx="201168" cy="201168"/>
                </a:xfrm>
                <a:prstGeom prst="rect">
                  <a:avLst/>
                </a:prstGeom>
              </p:spPr>
            </p:pic>
          </p:grpSp>
          <p:sp>
            <p:nvSpPr>
              <p:cNvPr id="30" name="Text 23"/>
              <p:cNvSpPr/>
              <p:nvPr/>
            </p:nvSpPr>
            <p:spPr>
              <a:xfrm>
                <a:off x="594360" y="5486400"/>
                <a:ext cx="243527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 V Manas Srujan</a:t>
                </a:r>
                <a:endParaRPr lang="en-US" sz="1600" dirty="0"/>
              </a:p>
            </p:txBody>
          </p:sp>
          <p:sp>
            <p:nvSpPr>
              <p:cNvPr id="31" name="Text 24"/>
              <p:cNvSpPr/>
              <p:nvPr/>
            </p:nvSpPr>
            <p:spPr>
              <a:xfrm>
                <a:off x="594360" y="5687568"/>
                <a:ext cx="2435276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EEA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1KS25IC015</a:t>
                </a:r>
                <a:endParaRPr lang="en-US" sz="1100" dirty="0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92150BA-665C-87C8-6274-FF27FD8C97F7}"/>
                </a:ext>
              </a:extLst>
            </p:cNvPr>
            <p:cNvGrpSpPr/>
            <p:nvPr/>
          </p:nvGrpSpPr>
          <p:grpSpPr>
            <a:xfrm>
              <a:off x="3358820" y="4791456"/>
              <a:ext cx="2618156" cy="914400"/>
              <a:chOff x="3358820" y="4956048"/>
              <a:chExt cx="2618156" cy="914400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CEDA441F-2330-1A7A-38A7-3BE0BC74124A}"/>
                  </a:ext>
                </a:extLst>
              </p:cNvPr>
              <p:cNvGrpSpPr/>
              <p:nvPr/>
            </p:nvGrpSpPr>
            <p:grpSpPr>
              <a:xfrm>
                <a:off x="3358820" y="4956048"/>
                <a:ext cx="2618156" cy="914400"/>
                <a:chOff x="3358820" y="4956048"/>
                <a:chExt cx="2618156" cy="914400"/>
              </a:xfrm>
            </p:grpSpPr>
            <p:sp>
              <p:nvSpPr>
                <p:cNvPr id="32" name="Shape 25"/>
                <p:cNvSpPr/>
                <p:nvPr/>
              </p:nvSpPr>
              <p:spPr>
                <a:xfrm>
                  <a:off x="3358820" y="4956048"/>
                  <a:ext cx="2618156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33" name="Shape 26"/>
                <p:cNvSpPr/>
                <p:nvPr/>
              </p:nvSpPr>
              <p:spPr>
                <a:xfrm>
                  <a:off x="4494162" y="5102352"/>
                  <a:ext cx="347472" cy="347472"/>
                </a:xfrm>
                <a:prstGeom prst="ellipse">
                  <a:avLst/>
                </a:prstGeom>
                <a:solidFill>
                  <a:srgbClr val="FFFFFF">
                    <a:alpha val="12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34" name="Image 5" descr="icons/school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67314" y="5175504"/>
                  <a:ext cx="201168" cy="201168"/>
                </a:xfrm>
                <a:prstGeom prst="rect">
                  <a:avLst/>
                </a:prstGeom>
              </p:spPr>
            </p:pic>
          </p:grpSp>
          <p:sp>
            <p:nvSpPr>
              <p:cNvPr id="35" name="Text 27"/>
              <p:cNvSpPr/>
              <p:nvPr/>
            </p:nvSpPr>
            <p:spPr>
              <a:xfrm>
                <a:off x="3450260" y="5486400"/>
                <a:ext cx="243527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Hussain Basha</a:t>
                </a:r>
                <a:endParaRPr lang="en-US" sz="1600" dirty="0"/>
              </a:p>
            </p:txBody>
          </p:sp>
          <p:sp>
            <p:nvSpPr>
              <p:cNvPr id="36" name="Text 28"/>
              <p:cNvSpPr/>
              <p:nvPr/>
            </p:nvSpPr>
            <p:spPr>
              <a:xfrm>
                <a:off x="3450260" y="5687568"/>
                <a:ext cx="2435276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EEA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1KS25IC023</a:t>
                </a:r>
                <a:endParaRPr lang="en-US" sz="1100" dirty="0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4123242F-7B75-E7EF-0535-4C2DDB3CA94C}"/>
                </a:ext>
              </a:extLst>
            </p:cNvPr>
            <p:cNvGrpSpPr/>
            <p:nvPr/>
          </p:nvGrpSpPr>
          <p:grpSpPr>
            <a:xfrm>
              <a:off x="6242151" y="4791456"/>
              <a:ext cx="2618156" cy="914400"/>
              <a:chOff x="6214719" y="4956048"/>
              <a:chExt cx="2618156" cy="914400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AE41EAA3-681B-6503-61D9-309E9D9C2DE9}"/>
                  </a:ext>
                </a:extLst>
              </p:cNvPr>
              <p:cNvGrpSpPr/>
              <p:nvPr/>
            </p:nvGrpSpPr>
            <p:grpSpPr>
              <a:xfrm>
                <a:off x="6214719" y="4956048"/>
                <a:ext cx="2618156" cy="914400"/>
                <a:chOff x="6214719" y="4956048"/>
                <a:chExt cx="2618156" cy="914400"/>
              </a:xfrm>
            </p:grpSpPr>
            <p:sp>
              <p:nvSpPr>
                <p:cNvPr id="37" name="Shape 29"/>
                <p:cNvSpPr/>
                <p:nvPr/>
              </p:nvSpPr>
              <p:spPr>
                <a:xfrm>
                  <a:off x="6214719" y="4956048"/>
                  <a:ext cx="2618156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38" name="Shape 30"/>
                <p:cNvSpPr/>
                <p:nvPr/>
              </p:nvSpPr>
              <p:spPr>
                <a:xfrm>
                  <a:off x="7350062" y="5102352"/>
                  <a:ext cx="347472" cy="347472"/>
                </a:xfrm>
                <a:prstGeom prst="ellipse">
                  <a:avLst/>
                </a:prstGeom>
                <a:solidFill>
                  <a:srgbClr val="FFFFFF">
                    <a:alpha val="12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39" name="Image 6" descr="icons/school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23214" y="5175504"/>
                  <a:ext cx="201168" cy="201168"/>
                </a:xfrm>
                <a:prstGeom prst="rect">
                  <a:avLst/>
                </a:prstGeom>
              </p:spPr>
            </p:pic>
          </p:grpSp>
          <p:sp>
            <p:nvSpPr>
              <p:cNvPr id="40" name="Text 31"/>
              <p:cNvSpPr/>
              <p:nvPr/>
            </p:nvSpPr>
            <p:spPr>
              <a:xfrm>
                <a:off x="6306160" y="5486400"/>
                <a:ext cx="243527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 Pavani Gowda</a:t>
                </a:r>
                <a:endParaRPr lang="en-US" sz="1600" dirty="0"/>
              </a:p>
            </p:txBody>
          </p:sp>
          <p:sp>
            <p:nvSpPr>
              <p:cNvPr id="41" name="Text 32"/>
              <p:cNvSpPr/>
              <p:nvPr/>
            </p:nvSpPr>
            <p:spPr>
              <a:xfrm>
                <a:off x="6306160" y="5687568"/>
                <a:ext cx="2435276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EEA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1KS25IC033</a:t>
                </a:r>
                <a:endParaRPr lang="en-US" sz="1100" dirty="0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85B8A5D-DA5C-45EB-B381-CBB6C19C02A5}"/>
                </a:ext>
              </a:extLst>
            </p:cNvPr>
            <p:cNvGrpSpPr/>
            <p:nvPr/>
          </p:nvGrpSpPr>
          <p:grpSpPr>
            <a:xfrm>
              <a:off x="9070619" y="4754880"/>
              <a:ext cx="2618156" cy="914400"/>
              <a:chOff x="9070619" y="4956048"/>
              <a:chExt cx="2618156" cy="91440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0DBE4440-2C94-4B73-9259-FE513D85898A}"/>
                  </a:ext>
                </a:extLst>
              </p:cNvPr>
              <p:cNvGrpSpPr/>
              <p:nvPr/>
            </p:nvGrpSpPr>
            <p:grpSpPr>
              <a:xfrm>
                <a:off x="9070619" y="4956048"/>
                <a:ext cx="2618156" cy="914400"/>
                <a:chOff x="9070619" y="4956048"/>
                <a:chExt cx="2618156" cy="914400"/>
              </a:xfrm>
            </p:grpSpPr>
            <p:sp>
              <p:nvSpPr>
                <p:cNvPr id="42" name="Shape 33"/>
                <p:cNvSpPr/>
                <p:nvPr/>
              </p:nvSpPr>
              <p:spPr>
                <a:xfrm>
                  <a:off x="9070619" y="4956048"/>
                  <a:ext cx="2618156" cy="91440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43" name="Shape 34"/>
                <p:cNvSpPr/>
                <p:nvPr/>
              </p:nvSpPr>
              <p:spPr>
                <a:xfrm>
                  <a:off x="10205961" y="5102352"/>
                  <a:ext cx="347472" cy="347472"/>
                </a:xfrm>
                <a:prstGeom prst="ellipse">
                  <a:avLst/>
                </a:prstGeom>
                <a:solidFill>
                  <a:srgbClr val="FFFFFF">
                    <a:alpha val="12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44" name="Image 7" descr="icons/school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9113" y="5175504"/>
                  <a:ext cx="201168" cy="201168"/>
                </a:xfrm>
                <a:prstGeom prst="rect">
                  <a:avLst/>
                </a:prstGeom>
              </p:spPr>
            </p:pic>
          </p:grpSp>
          <p:sp>
            <p:nvSpPr>
              <p:cNvPr id="45" name="Text 35"/>
              <p:cNvSpPr/>
              <p:nvPr/>
            </p:nvSpPr>
            <p:spPr>
              <a:xfrm>
                <a:off x="9162059" y="5486400"/>
                <a:ext cx="243527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Purvi B V</a:t>
                </a:r>
                <a:endParaRPr lang="en-US" sz="1600" dirty="0"/>
              </a:p>
            </p:txBody>
          </p:sp>
          <p:sp>
            <p:nvSpPr>
              <p:cNvPr id="46" name="Text 36"/>
              <p:cNvSpPr/>
              <p:nvPr/>
            </p:nvSpPr>
            <p:spPr>
              <a:xfrm>
                <a:off x="9162059" y="5687568"/>
                <a:ext cx="2435276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EEA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1KS25IC045</a:t>
                </a:r>
                <a:endParaRPr lang="en-US" sz="11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ADD68AA-6A74-C8B1-6ADB-6F724C71C396}"/>
                </a:ext>
              </a:extLst>
            </p:cNvPr>
            <p:cNvGrpSpPr/>
            <p:nvPr/>
          </p:nvGrpSpPr>
          <p:grpSpPr>
            <a:xfrm>
              <a:off x="4801332" y="3872996"/>
              <a:ext cx="2351288" cy="896421"/>
              <a:chOff x="4768482" y="3740918"/>
              <a:chExt cx="2351288" cy="896421"/>
            </a:xfrm>
          </p:grpSpPr>
          <p:sp>
            <p:nvSpPr>
              <p:cNvPr id="12" name="Shape 29">
                <a:extLst>
                  <a:ext uri="{FF2B5EF4-FFF2-40B4-BE49-F238E27FC236}">
                    <a16:creationId xmlns:a16="http://schemas.microsoft.com/office/drawing/2014/main" id="{5C5FDB9F-AE81-9E10-13C4-892FD6DF4477}"/>
                  </a:ext>
                </a:extLst>
              </p:cNvPr>
              <p:cNvSpPr/>
              <p:nvPr/>
            </p:nvSpPr>
            <p:spPr>
              <a:xfrm>
                <a:off x="4768482" y="3740918"/>
                <a:ext cx="2351288" cy="644128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8000"/>
                </a:srgbClr>
              </a:solidFill>
              <a:ln w="12700">
                <a:solidFill>
                  <a:srgbClr val="8FE3FF">
                    <a:alpha val="42000"/>
                  </a:srgbClr>
                </a:solidFill>
                <a:prstDash val="solid"/>
              </a:ln>
              <a:effectLst>
                <a:outerShdw blurRad="203200" dist="76200" dir="5400000" algn="bl" rotWithShape="0">
                  <a:srgbClr val="01030A">
                    <a:alpha val="55000"/>
                  </a:srgbClr>
                </a:outerShdw>
              </a:effectLst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0" name="Text 31">
                <a:extLst>
                  <a:ext uri="{FF2B5EF4-FFF2-40B4-BE49-F238E27FC236}">
                    <a16:creationId xmlns:a16="http://schemas.microsoft.com/office/drawing/2014/main" id="{D084E5C6-BFFF-A5B0-5B13-40EFBCBB68BC}"/>
                  </a:ext>
                </a:extLst>
              </p:cNvPr>
              <p:cNvSpPr/>
              <p:nvPr/>
            </p:nvSpPr>
            <p:spPr>
              <a:xfrm>
                <a:off x="4836015" y="3850957"/>
                <a:ext cx="2187049" cy="49296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FFFFFF"/>
                    </a:solidFill>
                    <a:latin typeface="Imprint MT Shadow" panose="04020605060303030202" pitchFamily="82" charset="0"/>
                    <a:ea typeface="Calibri" pitchFamily="34" charset="-122"/>
                    <a:cs typeface="Calibri" pitchFamily="34" charset="-120"/>
                  </a:rPr>
                  <a:t>S T A C K </a:t>
                </a:r>
                <a:r>
                  <a:rPr lang="en-US" sz="2800" b="1" dirty="0">
                    <a:solidFill>
                      <a:schemeClr val="accent2">
                        <a:lumMod val="75000"/>
                      </a:schemeClr>
                    </a:solidFill>
                    <a:latin typeface="Imprint MT Shadow" panose="04020605060303030202" pitchFamily="82" charset="0"/>
                    <a:ea typeface="Calibri" pitchFamily="34" charset="-122"/>
                    <a:cs typeface="Calibri" pitchFamily="34" charset="-120"/>
                  </a:rPr>
                  <a:t>X</a:t>
                </a:r>
                <a:endParaRPr lang="en-US" sz="1600" dirty="0">
                  <a:solidFill>
                    <a:schemeClr val="accent2">
                      <a:lumMod val="75000"/>
                    </a:schemeClr>
                  </a:solidFill>
                  <a:latin typeface="Imprint MT Shadow" panose="04020605060303030202" pitchFamily="82" charset="0"/>
                </a:endParaRPr>
              </a:p>
            </p:txBody>
          </p:sp>
          <p:sp>
            <p:nvSpPr>
              <p:cNvPr id="11" name="Text 32">
                <a:extLst>
                  <a:ext uri="{FF2B5EF4-FFF2-40B4-BE49-F238E27FC236}">
                    <a16:creationId xmlns:a16="http://schemas.microsoft.com/office/drawing/2014/main" id="{D2C640D1-7149-9DA7-4407-6D41004025E3}"/>
                  </a:ext>
                </a:extLst>
              </p:cNvPr>
              <p:cNvSpPr/>
              <p:nvPr/>
            </p:nvSpPr>
            <p:spPr>
              <a:xfrm>
                <a:off x="4847913" y="4508513"/>
                <a:ext cx="2187049" cy="1288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100" dirty="0"/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D2CEEBD-20DA-7AF4-3C28-EA83DBEC602C}"/>
              </a:ext>
            </a:extLst>
          </p:cNvPr>
          <p:cNvSpPr txBox="1"/>
          <p:nvPr/>
        </p:nvSpPr>
        <p:spPr>
          <a:xfrm>
            <a:off x="-717630" y="19561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21"/>
          <p:cNvSpPr/>
          <p:nvPr/>
        </p:nvSpPr>
        <p:spPr>
          <a:xfrm>
            <a:off x="4460138" y="4567521"/>
            <a:ext cx="327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44" name="Text 33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ICB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03C203-4172-F526-D1AD-8B1EEAD79D33}"/>
              </a:ext>
            </a:extLst>
          </p:cNvPr>
          <p:cNvGrpSpPr/>
          <p:nvPr/>
        </p:nvGrpSpPr>
        <p:grpSpPr>
          <a:xfrm>
            <a:off x="0" y="254549"/>
            <a:ext cx="12191695" cy="5469595"/>
            <a:chOff x="0" y="254549"/>
            <a:chExt cx="12191695" cy="54695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76EF8B0-0798-5176-EC12-06F3A871EB59}"/>
                </a:ext>
              </a:extLst>
            </p:cNvPr>
            <p:cNvGrpSpPr/>
            <p:nvPr/>
          </p:nvGrpSpPr>
          <p:grpSpPr>
            <a:xfrm>
              <a:off x="0" y="254549"/>
              <a:ext cx="12191695" cy="1898955"/>
              <a:chOff x="0" y="254549"/>
              <a:chExt cx="12191695" cy="1898955"/>
            </a:xfrm>
          </p:grpSpPr>
          <p:sp>
            <p:nvSpPr>
              <p:cNvPr id="2" name="Text 0"/>
              <p:cNvSpPr/>
              <p:nvPr/>
            </p:nvSpPr>
            <p:spPr>
              <a:xfrm>
                <a:off x="338328" y="254549"/>
                <a:ext cx="11277295" cy="7878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5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From Scattered Information to One Platform</a:t>
                </a:r>
                <a:endParaRPr lang="en-US" sz="2500" dirty="0"/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0" y="841433"/>
                <a:ext cx="12191695" cy="690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kern="0" spc="200" dirty="0">
                    <a:solidFill>
                      <a:srgbClr val="5EEA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REAL-WORLD EXPERIENCE</a:t>
                </a:r>
                <a:endParaRPr lang="en-US" sz="1600" dirty="0"/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26399" y="1115567"/>
                <a:ext cx="10470335" cy="103793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en-US" sz="2000" i="1" dirty="0">
                    <a:solidFill>
                      <a:srgbClr val="B7C2D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When we are first-year engineering students, we experienced difficulties tracking subject-wise attendance and finding study materials shared earlier in WhatsApp groups</a:t>
                </a:r>
                <a:r>
                  <a:rPr lang="en-US" sz="1600" i="1" dirty="0">
                    <a:solidFill>
                      <a:srgbClr val="B7C2D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600" dirty="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BEC8E5A-D7D2-439A-DC70-36B358CB2063}"/>
                </a:ext>
              </a:extLst>
            </p:cNvPr>
            <p:cNvGrpSpPr/>
            <p:nvPr/>
          </p:nvGrpSpPr>
          <p:grpSpPr>
            <a:xfrm>
              <a:off x="473030" y="2245158"/>
              <a:ext cx="11339329" cy="3478986"/>
              <a:chOff x="473030" y="2245158"/>
              <a:chExt cx="11339329" cy="3478986"/>
            </a:xfrm>
          </p:grpSpPr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0B78832E-F039-EEF1-D25C-A546487A2AE6}"/>
                  </a:ext>
                </a:extLst>
              </p:cNvPr>
              <p:cNvGrpSpPr/>
              <p:nvPr/>
            </p:nvGrpSpPr>
            <p:grpSpPr>
              <a:xfrm>
                <a:off x="473030" y="2263233"/>
                <a:ext cx="2549576" cy="562076"/>
                <a:chOff x="473030" y="1737360"/>
                <a:chExt cx="2549576" cy="562076"/>
              </a:xfrm>
            </p:grpSpPr>
            <p:sp>
              <p:nvSpPr>
                <p:cNvPr id="5" name="Shape 3"/>
                <p:cNvSpPr/>
                <p:nvPr/>
              </p:nvSpPr>
              <p:spPr>
                <a:xfrm>
                  <a:off x="473030" y="1750796"/>
                  <a:ext cx="2549576" cy="548640"/>
                </a:xfrm>
                <a:prstGeom prst="roundRect">
                  <a:avLst>
                    <a:gd name="adj" fmla="val 83333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</p:spPr>
            </p:sp>
            <p:sp>
              <p:nvSpPr>
                <p:cNvPr id="6" name="Text 4"/>
                <p:cNvSpPr/>
                <p:nvPr/>
              </p:nvSpPr>
              <p:spPr>
                <a:xfrm>
                  <a:off x="589443" y="1737360"/>
                  <a:ext cx="2403272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WhatsApp</a:t>
                  </a:r>
                  <a:r>
                    <a:rPr lang="en-US" sz="11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r>
                    <a:rPr lang="en-US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Groups</a:t>
                  </a:r>
                  <a:endParaRPr lang="en-US" sz="1100" dirty="0"/>
                </a:p>
              </p:txBody>
            </p:sp>
          </p:grpSp>
          <p:sp>
            <p:nvSpPr>
              <p:cNvPr id="7" name="Shape 5"/>
              <p:cNvSpPr/>
              <p:nvPr/>
            </p:nvSpPr>
            <p:spPr>
              <a:xfrm>
                <a:off x="3052496" y="2473545"/>
                <a:ext cx="292608" cy="164592"/>
              </a:xfrm>
              <a:prstGeom prst="chevron">
                <a:avLst/>
              </a:prstGeom>
              <a:solidFill>
                <a:srgbClr val="5EEAFF">
                  <a:alpha val="75000"/>
                </a:srgbClr>
              </a:solidFill>
              <a:ln/>
            </p:spPr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F554E583-35C3-A9A7-C3C1-717FC27AEB0F}"/>
                  </a:ext>
                </a:extLst>
              </p:cNvPr>
              <p:cNvGrpSpPr/>
              <p:nvPr/>
            </p:nvGrpSpPr>
            <p:grpSpPr>
              <a:xfrm>
                <a:off x="3393110" y="2245158"/>
                <a:ext cx="2549576" cy="567301"/>
                <a:chOff x="3393110" y="1719285"/>
                <a:chExt cx="2549576" cy="567301"/>
              </a:xfrm>
            </p:grpSpPr>
            <p:sp>
              <p:nvSpPr>
                <p:cNvPr id="8" name="Shape 6"/>
                <p:cNvSpPr/>
                <p:nvPr/>
              </p:nvSpPr>
              <p:spPr>
                <a:xfrm>
                  <a:off x="3393110" y="1737946"/>
                  <a:ext cx="2549576" cy="548640"/>
                </a:xfrm>
                <a:prstGeom prst="roundRect">
                  <a:avLst>
                    <a:gd name="adj" fmla="val 83333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3491408" y="1719285"/>
                  <a:ext cx="2403272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Many Messages</a:t>
                  </a:r>
                  <a:endParaRPr lang="en-US" sz="1600" dirty="0"/>
                </a:p>
              </p:txBody>
            </p:sp>
          </p:grpSp>
          <p:sp>
            <p:nvSpPr>
              <p:cNvPr id="10" name="Shape 8"/>
              <p:cNvSpPr/>
              <p:nvPr/>
            </p:nvSpPr>
            <p:spPr>
              <a:xfrm>
                <a:off x="5967832" y="2482689"/>
                <a:ext cx="292608" cy="164592"/>
              </a:xfrm>
              <a:prstGeom prst="chevron">
                <a:avLst/>
              </a:prstGeom>
              <a:solidFill>
                <a:srgbClr val="5EEAFF">
                  <a:alpha val="75000"/>
                </a:srgbClr>
              </a:solidFill>
              <a:ln/>
            </p:spPr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BB8149E8-8E19-632D-F420-F01D8AE28942}"/>
                  </a:ext>
                </a:extLst>
              </p:cNvPr>
              <p:cNvGrpSpPr/>
              <p:nvPr/>
            </p:nvGrpSpPr>
            <p:grpSpPr>
              <a:xfrm>
                <a:off x="6297015" y="2281521"/>
                <a:ext cx="2549576" cy="576818"/>
                <a:chOff x="6297015" y="1755648"/>
                <a:chExt cx="2549576" cy="576818"/>
              </a:xfrm>
            </p:grpSpPr>
            <p:sp>
              <p:nvSpPr>
                <p:cNvPr id="11" name="Shape 9"/>
                <p:cNvSpPr/>
                <p:nvPr/>
              </p:nvSpPr>
              <p:spPr>
                <a:xfrm>
                  <a:off x="6297015" y="1783826"/>
                  <a:ext cx="2549576" cy="548640"/>
                </a:xfrm>
                <a:prstGeom prst="roundRect">
                  <a:avLst>
                    <a:gd name="adj" fmla="val 83333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</p:spPr>
            </p:sp>
            <p:sp>
              <p:nvSpPr>
                <p:cNvPr id="12" name="Text 10"/>
                <p:cNvSpPr/>
                <p:nvPr/>
              </p:nvSpPr>
              <p:spPr>
                <a:xfrm>
                  <a:off x="6333592" y="1755648"/>
                  <a:ext cx="2403272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Notices</a:t>
                  </a:r>
                  <a:r>
                    <a:rPr lang="en-US" sz="11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r>
                    <a:rPr lang="en-US" sz="16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Get</a:t>
                  </a:r>
                  <a:r>
                    <a:rPr lang="en-US" sz="11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r>
                    <a:rPr lang="en-US" sz="160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Buried</a:t>
                  </a:r>
                  <a:endParaRPr lang="en-US" sz="1100" dirty="0"/>
                </a:p>
              </p:txBody>
            </p:sp>
          </p:grpSp>
          <p:sp>
            <p:nvSpPr>
              <p:cNvPr id="13" name="Shape 11"/>
              <p:cNvSpPr/>
              <p:nvPr/>
            </p:nvSpPr>
            <p:spPr>
              <a:xfrm>
                <a:off x="8901454" y="2519721"/>
                <a:ext cx="292608" cy="164592"/>
              </a:xfrm>
              <a:prstGeom prst="chevron">
                <a:avLst/>
              </a:prstGeom>
              <a:solidFill>
                <a:srgbClr val="5EEAFF">
                  <a:alpha val="75000"/>
                </a:srgbClr>
              </a:solidFill>
              <a:ln/>
            </p:spPr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F2618203-5936-F964-3EB7-D7E7FF4847FB}"/>
                  </a:ext>
                </a:extLst>
              </p:cNvPr>
              <p:cNvGrpSpPr/>
              <p:nvPr/>
            </p:nvGrpSpPr>
            <p:grpSpPr>
              <a:xfrm>
                <a:off x="9212351" y="2281521"/>
                <a:ext cx="2600008" cy="576735"/>
                <a:chOff x="9212351" y="1755648"/>
                <a:chExt cx="2600008" cy="576735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9262783" y="1783743"/>
                  <a:ext cx="2549576" cy="548640"/>
                </a:xfrm>
                <a:prstGeom prst="roundRect">
                  <a:avLst>
                    <a:gd name="adj" fmla="val 83333"/>
                  </a:avLst>
                </a:prstGeom>
                <a:solidFill>
                  <a:srgbClr val="FFFFFF">
                    <a:alpha val="8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15" name="Text 13"/>
                <p:cNvSpPr/>
                <p:nvPr/>
              </p:nvSpPr>
              <p:spPr>
                <a:xfrm>
                  <a:off x="9212351" y="1755648"/>
                  <a:ext cx="2403272" cy="54864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Difficult to Find</a:t>
                  </a:r>
                  <a:endParaRPr lang="en-US" sz="1600" dirty="0"/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4C9F4EA-39DB-5707-E70F-400DB8906B37}"/>
                  </a:ext>
                </a:extLst>
              </p:cNvPr>
              <p:cNvGrpSpPr/>
              <p:nvPr/>
            </p:nvGrpSpPr>
            <p:grpSpPr>
              <a:xfrm>
                <a:off x="502920" y="3141057"/>
                <a:ext cx="11185855" cy="2583087"/>
                <a:chOff x="502920" y="3141057"/>
                <a:chExt cx="11185855" cy="2583087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E8FAA076-2C33-B1CD-A23A-F9ACD10C9389}"/>
                    </a:ext>
                  </a:extLst>
                </p:cNvPr>
                <p:cNvGrpSpPr/>
                <p:nvPr/>
              </p:nvGrpSpPr>
              <p:grpSpPr>
                <a:xfrm>
                  <a:off x="816422" y="5385153"/>
                  <a:ext cx="1711909" cy="310896"/>
                  <a:chOff x="502920" y="5413248"/>
                  <a:chExt cx="1711909" cy="310896"/>
                </a:xfrm>
              </p:grpSpPr>
              <p:pic>
                <p:nvPicPr>
                  <p:cNvPr id="32" name="Image 3" descr="icons/book_cyan.png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02920" y="5458968"/>
                    <a:ext cx="237744" cy="237744"/>
                  </a:xfrm>
                  <a:prstGeom prst="rect">
                    <a:avLst/>
                  </a:prstGeom>
                </p:spPr>
              </p:pic>
              <p:sp>
                <p:nvSpPr>
                  <p:cNvPr id="33" name="Text 27"/>
                  <p:cNvSpPr/>
                  <p:nvPr/>
                </p:nvSpPr>
                <p:spPr>
                  <a:xfrm>
                    <a:off x="868680" y="5413248"/>
                    <a:ext cx="1346149" cy="31089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150" dirty="0">
                        <a:solidFill>
                          <a:srgbClr val="B7C2D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Syllabus</a:t>
                    </a:r>
                    <a:endParaRPr lang="en-US" sz="1150" dirty="0"/>
                  </a:p>
                </p:txBody>
              </p:sp>
            </p:grp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A38B85AD-5CA2-C8B0-B499-58BAF6AC9D4E}"/>
                    </a:ext>
                  </a:extLst>
                </p:cNvPr>
                <p:cNvGrpSpPr/>
                <p:nvPr/>
              </p:nvGrpSpPr>
              <p:grpSpPr>
                <a:xfrm>
                  <a:off x="2397709" y="5413248"/>
                  <a:ext cx="1711909" cy="310896"/>
                  <a:chOff x="2397709" y="5413248"/>
                  <a:chExt cx="1711909" cy="310896"/>
                </a:xfrm>
              </p:grpSpPr>
              <p:pic>
                <p:nvPicPr>
                  <p:cNvPr id="34" name="Image 4" descr="icons/documenttext_cyan.png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397709" y="5458968"/>
                    <a:ext cx="237744" cy="237744"/>
                  </a:xfrm>
                  <a:prstGeom prst="rect">
                    <a:avLst/>
                  </a:prstGeom>
                </p:spPr>
              </p:pic>
              <p:sp>
                <p:nvSpPr>
                  <p:cNvPr id="35" name="Text 28"/>
                  <p:cNvSpPr/>
                  <p:nvPr/>
                </p:nvSpPr>
                <p:spPr>
                  <a:xfrm>
                    <a:off x="2763469" y="5413248"/>
                    <a:ext cx="1346149" cy="31089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150" dirty="0">
                        <a:solidFill>
                          <a:srgbClr val="B7C2D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Study Materials</a:t>
                    </a:r>
                    <a:endParaRPr lang="en-US" sz="1150" dirty="0"/>
                  </a:p>
                </p:txBody>
              </p:sp>
            </p:grpSp>
            <p:pic>
              <p:nvPicPr>
                <p:cNvPr id="36" name="Image 5" descr="icons/newspaper_cyan.png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92498" y="5458968"/>
                  <a:ext cx="237744" cy="237744"/>
                </a:xfrm>
                <a:prstGeom prst="rect">
                  <a:avLst/>
                </a:prstGeom>
              </p:spPr>
            </p:pic>
            <p:sp>
              <p:nvSpPr>
                <p:cNvPr id="37" name="Text 29"/>
                <p:cNvSpPr/>
                <p:nvPr/>
              </p:nvSpPr>
              <p:spPr>
                <a:xfrm>
                  <a:off x="4658258" y="5413248"/>
                  <a:ext cx="1346149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Previous-Year Papers</a:t>
                  </a:r>
                  <a:endParaRPr lang="en-US" sz="1150" dirty="0"/>
                </a:p>
              </p:txBody>
            </p:sp>
            <p:pic>
              <p:nvPicPr>
                <p:cNvPr id="38" name="Image 6" descr="icons/flask_cyan.png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87288" y="5458968"/>
                  <a:ext cx="237744" cy="237744"/>
                </a:xfrm>
                <a:prstGeom prst="rect">
                  <a:avLst/>
                </a:prstGeom>
              </p:spPr>
            </p:pic>
            <p:sp>
              <p:nvSpPr>
                <p:cNvPr id="39" name="Text 30"/>
                <p:cNvSpPr/>
                <p:nvPr/>
              </p:nvSpPr>
              <p:spPr>
                <a:xfrm>
                  <a:off x="6553048" y="5413248"/>
                  <a:ext cx="1346149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Research Papers</a:t>
                  </a:r>
                  <a:endParaRPr lang="en-US" sz="1150" dirty="0"/>
                </a:p>
              </p:txBody>
            </p:sp>
            <p:pic>
              <p:nvPicPr>
                <p:cNvPr id="40" name="Image 7" descr="icons/laptop_cyan.png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82077" y="5458968"/>
                  <a:ext cx="237744" cy="237744"/>
                </a:xfrm>
                <a:prstGeom prst="rect">
                  <a:avLst/>
                </a:prstGeom>
              </p:spPr>
            </p:pic>
            <p:sp>
              <p:nvSpPr>
                <p:cNvPr id="41" name="Text 31"/>
                <p:cNvSpPr/>
                <p:nvPr/>
              </p:nvSpPr>
              <p:spPr>
                <a:xfrm>
                  <a:off x="8447837" y="5413248"/>
                  <a:ext cx="1346149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Online Courses</a:t>
                  </a:r>
                  <a:endParaRPr lang="en-US" sz="1150" dirty="0"/>
                </a:p>
              </p:txBody>
            </p:sp>
            <p:pic>
              <p:nvPicPr>
                <p:cNvPr id="42" name="Image 8" descr="icons/ribbon_cyan.png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76866" y="5458968"/>
                  <a:ext cx="237744" cy="237744"/>
                </a:xfrm>
                <a:prstGeom prst="rect">
                  <a:avLst/>
                </a:prstGeom>
              </p:spPr>
            </p:pic>
            <p:sp>
              <p:nvSpPr>
                <p:cNvPr id="43" name="Text 32"/>
                <p:cNvSpPr/>
                <p:nvPr/>
              </p:nvSpPr>
              <p:spPr>
                <a:xfrm>
                  <a:off x="10342626" y="5413248"/>
                  <a:ext cx="1346149" cy="3108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Certifications</a:t>
                  </a:r>
                  <a:endParaRPr lang="en-US" sz="1150" dirty="0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08642C4B-3404-5413-94BB-F6118EC3F7AB}"/>
                    </a:ext>
                  </a:extLst>
                </p:cNvPr>
                <p:cNvGrpSpPr/>
                <p:nvPr/>
              </p:nvGrpSpPr>
              <p:grpSpPr>
                <a:xfrm>
                  <a:off x="502920" y="3141057"/>
                  <a:ext cx="11173111" cy="1874520"/>
                  <a:chOff x="502920" y="3141057"/>
                  <a:chExt cx="11173111" cy="1874520"/>
                </a:xfrm>
              </p:grpSpPr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B0CD1EB8-7C2E-1B4D-19D6-CE7B340ED5DC}"/>
                      </a:ext>
                    </a:extLst>
                  </p:cNvPr>
                  <p:cNvGrpSpPr/>
                  <p:nvPr/>
                </p:nvGrpSpPr>
                <p:grpSpPr>
                  <a:xfrm>
                    <a:off x="502920" y="3141057"/>
                    <a:ext cx="2618156" cy="1810512"/>
                    <a:chOff x="530352" y="2615184"/>
                    <a:chExt cx="2618156" cy="1810512"/>
                  </a:xfrm>
                </p:grpSpPr>
                <p:sp>
                  <p:nvSpPr>
                    <p:cNvPr id="53" name="Shape 4">
                      <a:extLst>
                        <a:ext uri="{FF2B5EF4-FFF2-40B4-BE49-F238E27FC236}">
                          <a16:creationId xmlns:a16="http://schemas.microsoft.com/office/drawing/2014/main" id="{6CF9A812-C0A5-F6E0-3E94-E3AB8CB44D3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530352" y="2615184"/>
                      <a:ext cx="2618156" cy="1810512"/>
                    </a:xfrm>
                    <a:prstGeom prst="roundRect">
                      <a:avLst>
                        <a:gd name="adj" fmla="val 7071"/>
                      </a:avLst>
                    </a:prstGeom>
                    <a:solidFill>
                      <a:srgbClr val="FFFFFF">
                        <a:alpha val="10000"/>
                      </a:srgbClr>
                    </a:solidFill>
                    <a:ln w="12700">
                      <a:solidFill>
                        <a:srgbClr val="8FE3FF">
                          <a:alpha val="42000"/>
                        </a:srgbClr>
                      </a:solidFill>
                      <a:prstDash val="solid"/>
                    </a:ln>
                    <a:effectLst>
                      <a:outerShdw blurRad="203200" dist="76200" dir="5400000" algn="bl" rotWithShape="0">
                        <a:srgbClr val="01030A">
                          <a:alpha val="55000"/>
                        </a:srgbClr>
                      </a:outerShdw>
                    </a:effectLst>
                  </p:spPr>
                  <p:txBody>
                    <a:bodyPr/>
                    <a:lstStyle/>
                    <a:p>
                      <a:endParaRPr lang="en-IN" dirty="0"/>
                    </a:p>
                  </p:txBody>
                </p:sp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1A2CEB42-6360-A5F8-B222-5F3B42CCC3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0936" y="2743200"/>
                      <a:ext cx="2307260" cy="1609344"/>
                      <a:chOff x="630936" y="2743200"/>
                      <a:chExt cx="2307260" cy="1609344"/>
                    </a:xfrm>
                  </p:grpSpPr>
                  <p:sp>
                    <p:nvSpPr>
                      <p:cNvPr id="55" name="Shape 5">
                        <a:extLst>
                          <a:ext uri="{FF2B5EF4-FFF2-40B4-BE49-F238E27FC236}">
                            <a16:creationId xmlns:a16="http://schemas.microsoft.com/office/drawing/2014/main" id="{91D56D71-DEC6-66DD-D193-99C986C83F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0936" y="2743200"/>
                        <a:ext cx="512064" cy="512064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13000"/>
                        </a:srgbClr>
                      </a:solidFill>
                      <a:ln w="12700">
                        <a:solidFill>
                          <a:srgbClr val="8FE3FF">
                            <a:alpha val="60000"/>
                          </a:srgbClr>
                        </a:solidFill>
                        <a:prstDash val="solid"/>
                      </a:ln>
                    </p:spPr>
                  </p:sp>
                  <p:pic>
                    <p:nvPicPr>
                      <p:cNvPr id="56" name="Image 0" descr="icons/chatbubbles_cyan.png">
                        <a:extLst>
                          <a:ext uri="{FF2B5EF4-FFF2-40B4-BE49-F238E27FC236}">
                            <a16:creationId xmlns:a16="http://schemas.microsoft.com/office/drawing/2014/main" id="{5C4ED6D6-C49A-F7C9-2554-91AE64EE772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3831" y="2866095"/>
                        <a:ext cx="266273" cy="26627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7" name="Text 6">
                        <a:extLst>
                          <a:ext uri="{FF2B5EF4-FFF2-40B4-BE49-F238E27FC236}">
                            <a16:creationId xmlns:a16="http://schemas.microsoft.com/office/drawing/2014/main" id="{2EFA8D4B-0CA9-A928-5C61-377FCD0469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800" y="3364992"/>
                        <a:ext cx="2252396" cy="530352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ct val="105000"/>
                          </a:lnSpc>
                          <a:buNone/>
                        </a:pPr>
                        <a:r>
                          <a:rPr lang="en-US" sz="1300" b="1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Scattered Information</a:t>
                        </a:r>
                        <a:endParaRPr lang="en-US" sz="1300" dirty="0"/>
                      </a:p>
                    </p:txBody>
                  </p:sp>
                  <p:sp>
                    <p:nvSpPr>
                      <p:cNvPr id="58" name="Text 7">
                        <a:extLst>
                          <a:ext uri="{FF2B5EF4-FFF2-40B4-BE49-F238E27FC236}">
                            <a16:creationId xmlns:a16="http://schemas.microsoft.com/office/drawing/2014/main" id="{514BBCD0-1F3A-C537-5D19-841FD8269A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800" y="3858768"/>
                        <a:ext cx="2252396" cy="493776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ct val="115000"/>
                          </a:lnSpc>
                          <a:buNone/>
                        </a:pPr>
                        <a:r>
                          <a:rPr lang="en-US" sz="1050" dirty="0">
                            <a:solidFill>
                              <a:srgbClr val="8C97B3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Updates get mixed with many messages</a:t>
                        </a:r>
                        <a:endParaRPr lang="en-US" sz="1050" dirty="0"/>
                      </a:p>
                    </p:txBody>
                  </p:sp>
                </p:grpSp>
              </p:grp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D7737534-5F0A-8F9E-5DE5-90593064C72B}"/>
                      </a:ext>
                    </a:extLst>
                  </p:cNvPr>
                  <p:cNvGrpSpPr/>
                  <p:nvPr/>
                </p:nvGrpSpPr>
                <p:grpSpPr>
                  <a:xfrm>
                    <a:off x="3358820" y="3177633"/>
                    <a:ext cx="2618156" cy="1810512"/>
                    <a:chOff x="3358820" y="2651760"/>
                    <a:chExt cx="2618156" cy="1810512"/>
                  </a:xfrm>
                </p:grpSpPr>
                <p:sp>
                  <p:nvSpPr>
                    <p:cNvPr id="60" name="Shape 8">
                      <a:extLst>
                        <a:ext uri="{FF2B5EF4-FFF2-40B4-BE49-F238E27FC236}">
                          <a16:creationId xmlns:a16="http://schemas.microsoft.com/office/drawing/2014/main" id="{5A364C0B-8FF0-6B46-33DD-5AB6DCD344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58820" y="2651760"/>
                      <a:ext cx="2618156" cy="1810512"/>
                    </a:xfrm>
                    <a:prstGeom prst="roundRect">
                      <a:avLst>
                        <a:gd name="adj" fmla="val 7071"/>
                      </a:avLst>
                    </a:prstGeom>
                    <a:solidFill>
                      <a:srgbClr val="FFFFFF">
                        <a:alpha val="10000"/>
                      </a:srgbClr>
                    </a:solidFill>
                    <a:ln w="12700">
                      <a:solidFill>
                        <a:srgbClr val="8FE3FF">
                          <a:alpha val="42000"/>
                        </a:srgbClr>
                      </a:solidFill>
                      <a:prstDash val="solid"/>
                    </a:ln>
                    <a:effectLst>
                      <a:outerShdw blurRad="203200" dist="76200" dir="5400000" algn="bl" rotWithShape="0">
                        <a:srgbClr val="01030A">
                          <a:alpha val="55000"/>
                        </a:srgbClr>
                      </a:outerShdw>
                    </a:effectLst>
                  </p:spPr>
                </p: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D8B81E3D-47FD-6404-F718-A7EAC04197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486836" y="2743200"/>
                      <a:ext cx="2307260" cy="1609344"/>
                      <a:chOff x="3486836" y="2743200"/>
                      <a:chExt cx="2307260" cy="1609344"/>
                    </a:xfrm>
                  </p:grpSpPr>
                  <p:sp>
                    <p:nvSpPr>
                      <p:cNvPr id="62" name="Shape 9">
                        <a:extLst>
                          <a:ext uri="{FF2B5EF4-FFF2-40B4-BE49-F238E27FC236}">
                            <a16:creationId xmlns:a16="http://schemas.microsoft.com/office/drawing/2014/main" id="{259CDF39-520D-9300-21C1-51836831B9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486836" y="2743200"/>
                        <a:ext cx="512064" cy="512064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13000"/>
                        </a:srgbClr>
                      </a:solidFill>
                      <a:ln w="12700">
                        <a:solidFill>
                          <a:srgbClr val="8FE3FF">
                            <a:alpha val="60000"/>
                          </a:srgbClr>
                        </a:solidFill>
                        <a:prstDash val="solid"/>
                      </a:ln>
                    </p:spPr>
                  </p:sp>
                  <p:pic>
                    <p:nvPicPr>
                      <p:cNvPr id="63" name="Image 1" descr="icons/documenttext_cyan.png">
                        <a:extLst>
                          <a:ext uri="{FF2B5EF4-FFF2-40B4-BE49-F238E27FC236}">
                            <a16:creationId xmlns:a16="http://schemas.microsoft.com/office/drawing/2014/main" id="{DD975CA6-D37F-65A6-A1A2-EA1A756EE69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9731" y="2866095"/>
                        <a:ext cx="266273" cy="266273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64" name="Text 10">
                        <a:extLst>
                          <a:ext uri="{FF2B5EF4-FFF2-40B4-BE49-F238E27FC236}">
                            <a16:creationId xmlns:a16="http://schemas.microsoft.com/office/drawing/2014/main" id="{687227DE-C06D-15FA-177D-374C671D45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41700" y="3364992"/>
                        <a:ext cx="2252396" cy="530352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ct val="105000"/>
                          </a:lnSpc>
                          <a:buNone/>
                        </a:pPr>
                        <a:r>
                          <a:rPr lang="en-US" sz="1300" b="1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Difficult to Find Materials</a:t>
                        </a:r>
                        <a:endParaRPr lang="en-US" sz="1300" dirty="0"/>
                      </a:p>
                    </p:txBody>
                  </p:sp>
                  <p:sp>
                    <p:nvSpPr>
                      <p:cNvPr id="65" name="Text 11">
                        <a:extLst>
                          <a:ext uri="{FF2B5EF4-FFF2-40B4-BE49-F238E27FC236}">
                            <a16:creationId xmlns:a16="http://schemas.microsoft.com/office/drawing/2014/main" id="{0DA8BBED-72E6-DFDD-61B1-FCE44C1AC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41700" y="3858768"/>
                        <a:ext cx="2252396" cy="493776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ct val="115000"/>
                          </a:lnSpc>
                          <a:buNone/>
                        </a:pPr>
                        <a:r>
                          <a:rPr lang="en-US" sz="1050" dirty="0">
                            <a:solidFill>
                              <a:srgbClr val="8C97B3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Old PDFs, notes and syllabus are hard to locate</a:t>
                        </a:r>
                        <a:endParaRPr lang="en-US" sz="1050" dirty="0"/>
                      </a:p>
                    </p:txBody>
                  </p:sp>
                </p:grpSp>
              </p:grp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D3F2EC25-77CA-C189-7CB5-5EC2CA88D72C}"/>
                      </a:ext>
                    </a:extLst>
                  </p:cNvPr>
                  <p:cNvGrpSpPr/>
                  <p:nvPr/>
                </p:nvGrpSpPr>
                <p:grpSpPr>
                  <a:xfrm>
                    <a:off x="9057875" y="3196937"/>
                    <a:ext cx="2618156" cy="1810512"/>
                    <a:chOff x="9057875" y="2671064"/>
                    <a:chExt cx="2618156" cy="1810512"/>
                  </a:xfrm>
                </p:grpSpPr>
                <p:sp>
                  <p:nvSpPr>
                    <p:cNvPr id="67" name="Shape 16">
                      <a:extLst>
                        <a:ext uri="{FF2B5EF4-FFF2-40B4-BE49-F238E27FC236}">
                          <a16:creationId xmlns:a16="http://schemas.microsoft.com/office/drawing/2014/main" id="{A5063F6A-FF49-F766-630E-F2E226008F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57875" y="2671064"/>
                      <a:ext cx="2618156" cy="1810512"/>
                    </a:xfrm>
                    <a:prstGeom prst="roundRect">
                      <a:avLst>
                        <a:gd name="adj" fmla="val 7071"/>
                      </a:avLst>
                    </a:prstGeom>
                    <a:solidFill>
                      <a:srgbClr val="FFFFFF">
                        <a:alpha val="10000"/>
                      </a:srgbClr>
                    </a:solidFill>
                    <a:ln w="12700">
                      <a:solidFill>
                        <a:srgbClr val="8FE3FF">
                          <a:alpha val="42000"/>
                        </a:srgbClr>
                      </a:solidFill>
                      <a:prstDash val="solid"/>
                    </a:ln>
                    <a:effectLst>
                      <a:outerShdw blurRad="203200" dist="76200" dir="5400000" algn="bl" rotWithShape="0">
                        <a:srgbClr val="01030A">
                          <a:alpha val="55000"/>
                        </a:srgbClr>
                      </a:outerShdw>
                    </a:effectLst>
                  </p:spPr>
                </p:sp>
                <p:grpSp>
                  <p:nvGrpSpPr>
                    <p:cNvPr id="68" name="Group 67">
                      <a:extLst>
                        <a:ext uri="{FF2B5EF4-FFF2-40B4-BE49-F238E27FC236}">
                          <a16:creationId xmlns:a16="http://schemas.microsoft.com/office/drawing/2014/main" id="{09184B7D-88E3-EFEE-D5B8-18011D4284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168155" y="2761488"/>
                      <a:ext cx="2307260" cy="1600760"/>
                      <a:chOff x="9168155" y="2761488"/>
                      <a:chExt cx="2307260" cy="1600760"/>
                    </a:xfrm>
                  </p:grpSpPr>
                  <p:sp>
                    <p:nvSpPr>
                      <p:cNvPr id="69" name="Shape 17">
                        <a:extLst>
                          <a:ext uri="{FF2B5EF4-FFF2-40B4-BE49-F238E27FC236}">
                            <a16:creationId xmlns:a16="http://schemas.microsoft.com/office/drawing/2014/main" id="{428440BF-0886-02ED-97FA-E7AAD7911D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68155" y="2761488"/>
                        <a:ext cx="512064" cy="512064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13000"/>
                        </a:srgbClr>
                      </a:solidFill>
                      <a:ln w="12700">
                        <a:solidFill>
                          <a:srgbClr val="8FE3FF">
                            <a:alpha val="60000"/>
                          </a:srgbClr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n-IN" dirty="0"/>
                      </a:p>
                    </p:txBody>
                  </p:sp>
                  <p:grpSp>
                    <p:nvGrpSpPr>
                      <p:cNvPr id="70" name="Group 69">
                        <a:extLst>
                          <a:ext uri="{FF2B5EF4-FFF2-40B4-BE49-F238E27FC236}">
                            <a16:creationId xmlns:a16="http://schemas.microsoft.com/office/drawing/2014/main" id="{75BA710E-754B-4C18-DF49-4536C1394E2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23019" y="2884383"/>
                        <a:ext cx="2252396" cy="1477865"/>
                        <a:chOff x="9223019" y="2884383"/>
                        <a:chExt cx="2252396" cy="1477865"/>
                      </a:xfrm>
                    </p:grpSpPr>
                    <p:pic>
                      <p:nvPicPr>
                        <p:cNvPr id="71" name="Image 3" descr="icons/layers_cyan.png">
                          <a:extLst>
                            <a:ext uri="{FF2B5EF4-FFF2-40B4-BE49-F238E27FC236}">
                              <a16:creationId xmlns:a16="http://schemas.microsoft.com/office/drawing/2014/main" id="{5929BE62-FF15-D75D-DA1D-D901051D948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9291051" y="2884383"/>
                          <a:ext cx="266273" cy="266273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72" name="Text 18">
                          <a:extLst>
                            <a:ext uri="{FF2B5EF4-FFF2-40B4-BE49-F238E27FC236}">
                              <a16:creationId xmlns:a16="http://schemas.microsoft.com/office/drawing/2014/main" id="{91935DEF-EB03-687B-5BF4-86E06209A4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23019" y="3374696"/>
                          <a:ext cx="2252396" cy="530352"/>
                        </a:xfrm>
                        <a:prstGeom prst="rect">
                          <a:avLst/>
                        </a:prstGeom>
                        <a:noFill/>
                        <a:ln/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ct val="105000"/>
                            </a:lnSpc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Resources in Different Places</a:t>
                          </a:r>
                          <a:endParaRPr lang="en-US" sz="1300" dirty="0"/>
                        </a:p>
                      </p:txBody>
                    </p:sp>
                    <p:sp>
                      <p:nvSpPr>
                        <p:cNvPr id="73" name="Text 19">
                          <a:extLst>
                            <a:ext uri="{FF2B5EF4-FFF2-40B4-BE49-F238E27FC236}">
                              <a16:creationId xmlns:a16="http://schemas.microsoft.com/office/drawing/2014/main" id="{F5D8F531-6084-0A6A-8319-27E4E9D3F1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223019" y="3868472"/>
                          <a:ext cx="2252396" cy="493776"/>
                        </a:xfrm>
                        <a:prstGeom prst="rect">
                          <a:avLst/>
                        </a:prstGeom>
                        <a:noFill/>
                        <a:ln/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ct val="115000"/>
                            </a:lnSpc>
                            <a:buNone/>
                          </a:pPr>
                          <a:r>
                            <a:rPr lang="en-US" sz="1050" dirty="0">
                              <a:solidFill>
                                <a:srgbClr val="8C97B3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Papers, courses and certifications are not centralized</a:t>
                          </a:r>
                          <a:endParaRPr lang="en-US" sz="1050" dirty="0"/>
                        </a:p>
                      </p:txBody>
                    </p:sp>
                  </p:grpSp>
                </p:grpSp>
              </p:grpSp>
              <p:grpSp>
                <p:nvGrpSpPr>
                  <p:cNvPr id="74" name="Group 73">
                    <a:extLst>
                      <a:ext uri="{FF2B5EF4-FFF2-40B4-BE49-F238E27FC236}">
                        <a16:creationId xmlns:a16="http://schemas.microsoft.com/office/drawing/2014/main" id="{F538CE96-C201-193C-C5CD-DCF80BFF5AF7}"/>
                      </a:ext>
                    </a:extLst>
                  </p:cNvPr>
                  <p:cNvGrpSpPr/>
                  <p:nvPr/>
                </p:nvGrpSpPr>
                <p:grpSpPr>
                  <a:xfrm>
                    <a:off x="6256839" y="3205065"/>
                    <a:ext cx="2618156" cy="1810512"/>
                    <a:chOff x="6256839" y="2679192"/>
                    <a:chExt cx="2618156" cy="1810512"/>
                  </a:xfrm>
                </p:grpSpPr>
                <p:grpSp>
                  <p:nvGrpSpPr>
                    <p:cNvPr id="75" name="Group 74">
                      <a:extLst>
                        <a:ext uri="{FF2B5EF4-FFF2-40B4-BE49-F238E27FC236}">
                          <a16:creationId xmlns:a16="http://schemas.microsoft.com/office/drawing/2014/main" id="{9059DEDD-EC9A-2EC7-9834-F727B96CEB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89975" y="3356470"/>
                      <a:ext cx="2252396" cy="986308"/>
                      <a:chOff x="6391227" y="3494251"/>
                      <a:chExt cx="2252396" cy="986308"/>
                    </a:xfrm>
                  </p:grpSpPr>
                  <p:sp>
                    <p:nvSpPr>
                      <p:cNvPr id="81" name="Text 14">
                        <a:extLst>
                          <a:ext uri="{FF2B5EF4-FFF2-40B4-BE49-F238E27FC236}">
                            <a16:creationId xmlns:a16="http://schemas.microsoft.com/office/drawing/2014/main" id="{DCF87C50-0787-DCD8-42D3-229B48CAB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91227" y="3494251"/>
                        <a:ext cx="2252396" cy="466147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ct val="105000"/>
                          </a:lnSpc>
                          <a:buNone/>
                        </a:pPr>
                        <a:r>
                          <a:rPr lang="en-US" sz="1300" b="1" dirty="0">
                            <a:solidFill>
                              <a:srgbClr val="FFFFFF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Attendance Tracking</a:t>
                        </a:r>
                        <a:endParaRPr lang="en-US" sz="1300" dirty="0"/>
                      </a:p>
                    </p:txBody>
                  </p:sp>
                  <p:sp>
                    <p:nvSpPr>
                      <p:cNvPr id="82" name="Text 15">
                        <a:extLst>
                          <a:ext uri="{FF2B5EF4-FFF2-40B4-BE49-F238E27FC236}">
                            <a16:creationId xmlns:a16="http://schemas.microsoft.com/office/drawing/2014/main" id="{CFA87299-F3EC-D9EF-F194-D4726EA5A9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91227" y="3928248"/>
                        <a:ext cx="2252396" cy="552311"/>
                      </a:xfrm>
                      <a:prstGeom prst="rect">
                        <a:avLst/>
                      </a:prstGeom>
                      <a:noFill/>
                      <a:ln/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ct val="115000"/>
                          </a:lnSpc>
                          <a:buNone/>
                        </a:pPr>
                        <a:r>
                          <a:rPr lang="en-US" sz="1050" dirty="0">
                            <a:solidFill>
                              <a:srgbClr val="8C97B3"/>
                            </a:solidFill>
                            <a:latin typeface="Calibri" pitchFamily="34" charset="0"/>
                            <a:ea typeface="Calibri" pitchFamily="34" charset="-122"/>
                            <a:cs typeface="Calibri" pitchFamily="34" charset="-120"/>
                          </a:rPr>
                          <a:t>Difficult to track subject-wise attendance</a:t>
                        </a:r>
                        <a:endParaRPr lang="en-US" sz="1050" dirty="0"/>
                      </a:p>
                    </p:txBody>
                  </p:sp>
                </p:grpSp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67421E4A-2F09-74F6-A051-3A9E55FB0D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56839" y="2679192"/>
                      <a:ext cx="2618156" cy="1810512"/>
                      <a:chOff x="6256839" y="2679192"/>
                      <a:chExt cx="2618156" cy="1810512"/>
                    </a:xfrm>
                  </p:grpSpPr>
                  <p:sp>
                    <p:nvSpPr>
                      <p:cNvPr id="77" name="Shape 13">
                        <a:extLst>
                          <a:ext uri="{FF2B5EF4-FFF2-40B4-BE49-F238E27FC236}">
                            <a16:creationId xmlns:a16="http://schemas.microsoft.com/office/drawing/2014/main" id="{38166152-77F1-5277-D58E-AFBB70AAB2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389975" y="2762763"/>
                        <a:ext cx="512064" cy="450072"/>
                      </a:xfrm>
                      <a:prstGeom prst="ellipse">
                        <a:avLst/>
                      </a:prstGeom>
                      <a:solidFill>
                        <a:srgbClr val="FFFFFF">
                          <a:alpha val="13000"/>
                        </a:srgbClr>
                      </a:solidFill>
                      <a:ln w="12700">
                        <a:solidFill>
                          <a:srgbClr val="8FE3FF">
                            <a:alpha val="60000"/>
                          </a:srgbClr>
                        </a:solidFill>
                        <a:prstDash val="solid"/>
                      </a:ln>
                    </p:spPr>
                  </p:sp>
                  <p:grpSp>
                    <p:nvGrpSpPr>
                      <p:cNvPr id="78" name="Group 77">
                        <a:extLst>
                          <a:ext uri="{FF2B5EF4-FFF2-40B4-BE49-F238E27FC236}">
                            <a16:creationId xmlns:a16="http://schemas.microsoft.com/office/drawing/2014/main" id="{BB0C94A8-C2C0-EFD8-0710-14F3C4583B6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256839" y="2679192"/>
                        <a:ext cx="2618156" cy="1810512"/>
                        <a:chOff x="6256839" y="2679192"/>
                        <a:chExt cx="2618156" cy="1810512"/>
                      </a:xfrm>
                    </p:grpSpPr>
                    <p:pic>
                      <p:nvPicPr>
                        <p:cNvPr id="79" name="Image 2" descr="icons/calendar_cyan.png">
                          <a:extLst>
                            <a:ext uri="{FF2B5EF4-FFF2-40B4-BE49-F238E27FC236}">
                              <a16:creationId xmlns:a16="http://schemas.microsoft.com/office/drawing/2014/main" id="{C1800984-30E3-879C-C4CB-FB51F6F3F1F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05602" y="2882212"/>
                          <a:ext cx="266273" cy="234037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80" name="Shape 12">
                          <a:extLst>
                            <a:ext uri="{FF2B5EF4-FFF2-40B4-BE49-F238E27FC236}">
                              <a16:creationId xmlns:a16="http://schemas.microsoft.com/office/drawing/2014/main" id="{951DCFAF-CC19-5ADE-5AA8-DC14DD5307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256839" y="2679192"/>
                          <a:ext cx="2618156" cy="1810512"/>
                        </a:xfrm>
                        <a:prstGeom prst="roundRect">
                          <a:avLst>
                            <a:gd name="adj" fmla="val 7071"/>
                          </a:avLst>
                        </a:prstGeom>
                        <a:solidFill>
                          <a:srgbClr val="FFFFFF">
                            <a:alpha val="10000"/>
                          </a:srgbClr>
                        </a:solidFill>
                        <a:ln w="12700">
                          <a:solidFill>
                            <a:srgbClr val="8FE3FF">
                              <a:alpha val="42000"/>
                            </a:srgbClr>
                          </a:solidFill>
                          <a:prstDash val="solid"/>
                        </a:ln>
                        <a:effectLst>
                          <a:outerShdw blurRad="203200" dist="76200" dir="5400000" algn="bl" rotWithShape="0">
                            <a:srgbClr val="01030A">
                              <a:alpha val="55000"/>
                            </a:srgbClr>
                          </a:outerShdw>
                        </a:effectLst>
                      </p:spPr>
                      <p:txBody>
                        <a:bodyPr/>
                        <a:lstStyle/>
                        <a:p>
                          <a:endParaRPr lang="en-IN" dirty="0"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24CCA987-BFF7-73E2-0C14-8EE4C868834B}"/>
              </a:ext>
            </a:extLst>
          </p:cNvPr>
          <p:cNvSpPr txBox="1"/>
          <p:nvPr/>
        </p:nvSpPr>
        <p:spPr>
          <a:xfrm>
            <a:off x="1800808" y="30264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50E5B66-F655-D434-93DE-60E9F09DEDBD}"/>
              </a:ext>
            </a:extLst>
          </p:cNvPr>
          <p:cNvSpPr txBox="1"/>
          <p:nvPr/>
        </p:nvSpPr>
        <p:spPr>
          <a:xfrm>
            <a:off x="4646645" y="12129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99A491-E2DD-858A-76A2-321E26C070F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4712" y="129081"/>
            <a:ext cx="1113616" cy="730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72"/>
          <p:cNvSpPr/>
          <p:nvPr/>
        </p:nvSpPr>
        <p:spPr>
          <a:xfrm>
            <a:off x="0" y="645566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ICB</a:t>
            </a:r>
            <a:endParaRPr lang="en-US" sz="1000" dirty="0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D21A9D7F-D833-CFB2-E6BB-C5A7103A8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12" y="129081"/>
            <a:ext cx="1113616" cy="73081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4A0D4AA-7DC1-2EF4-A53F-DF8E9C6D4A3F}"/>
              </a:ext>
            </a:extLst>
          </p:cNvPr>
          <p:cNvGrpSpPr/>
          <p:nvPr/>
        </p:nvGrpSpPr>
        <p:grpSpPr>
          <a:xfrm>
            <a:off x="457200" y="329184"/>
            <a:ext cx="11277295" cy="5632704"/>
            <a:chOff x="457200" y="329184"/>
            <a:chExt cx="11277295" cy="5632704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1D594C5-1566-AB8A-C545-BB02929BFC4A}"/>
                </a:ext>
              </a:extLst>
            </p:cNvPr>
            <p:cNvGrpSpPr/>
            <p:nvPr/>
          </p:nvGrpSpPr>
          <p:grpSpPr>
            <a:xfrm>
              <a:off x="457200" y="329184"/>
              <a:ext cx="11277295" cy="786384"/>
              <a:chOff x="457200" y="329184"/>
              <a:chExt cx="11277295" cy="786384"/>
            </a:xfrm>
          </p:grpSpPr>
          <p:sp>
            <p:nvSpPr>
              <p:cNvPr id="2" name="Text 0"/>
              <p:cNvSpPr/>
              <p:nvPr/>
            </p:nvSpPr>
            <p:spPr>
              <a:xfrm>
                <a:off x="457200" y="329184"/>
                <a:ext cx="11277295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Proposed System — Features &amp; Conceptual Demo</a:t>
                </a:r>
                <a:endParaRPr lang="en-US" sz="2400" dirty="0"/>
              </a:p>
            </p:txBody>
          </p:sp>
          <p:sp>
            <p:nvSpPr>
              <p:cNvPr id="3" name="Shape 1"/>
              <p:cNvSpPr/>
              <p:nvPr/>
            </p:nvSpPr>
            <p:spPr>
              <a:xfrm>
                <a:off x="4632808" y="822960"/>
                <a:ext cx="2926080" cy="292608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8000"/>
                </a:srgbClr>
              </a:solidFill>
              <a:ln w="12700">
                <a:solidFill>
                  <a:srgbClr val="5EEAFF">
                    <a:alpha val="70000"/>
                  </a:srgbClr>
                </a:solidFill>
                <a:prstDash val="solid"/>
              </a:ln>
            </p:spPr>
          </p:sp>
          <p:sp>
            <p:nvSpPr>
              <p:cNvPr id="4" name="Text 2"/>
              <p:cNvSpPr/>
              <p:nvPr/>
            </p:nvSpPr>
            <p:spPr>
              <a:xfrm>
                <a:off x="4632808" y="822960"/>
                <a:ext cx="292608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kern="0" spc="160" dirty="0">
                    <a:solidFill>
                      <a:srgbClr val="5EEA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CONCEPTUAL UI · FUTURE DEVELOPMENT</a:t>
                </a:r>
                <a:endParaRPr lang="en-US" sz="95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232087-1152-B381-37DD-C052988CD767}"/>
                </a:ext>
              </a:extLst>
            </p:cNvPr>
            <p:cNvGrpSpPr/>
            <p:nvPr/>
          </p:nvGrpSpPr>
          <p:grpSpPr>
            <a:xfrm>
              <a:off x="503225" y="1335024"/>
              <a:ext cx="11185550" cy="4626864"/>
              <a:chOff x="503225" y="1335024"/>
              <a:chExt cx="11185550" cy="4626864"/>
            </a:xfrm>
          </p:grpSpPr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33EF2B3B-0F5A-6264-08E1-2F42ECFF1CC2}"/>
                  </a:ext>
                </a:extLst>
              </p:cNvPr>
              <p:cNvGrpSpPr/>
              <p:nvPr/>
            </p:nvGrpSpPr>
            <p:grpSpPr>
              <a:xfrm>
                <a:off x="4334100" y="1348918"/>
                <a:ext cx="3545738" cy="2123516"/>
                <a:chOff x="4334100" y="1348918"/>
                <a:chExt cx="3545738" cy="2123516"/>
              </a:xfrm>
            </p:grpSpPr>
            <p:sp>
              <p:nvSpPr>
                <p:cNvPr id="24" name="Shape 19"/>
                <p:cNvSpPr/>
                <p:nvPr/>
              </p:nvSpPr>
              <p:spPr>
                <a:xfrm>
                  <a:off x="4334100" y="1351026"/>
                  <a:ext cx="3545738" cy="2121408"/>
                </a:xfrm>
                <a:prstGeom prst="roundRect">
                  <a:avLst>
                    <a:gd name="adj" fmla="val 6034"/>
                  </a:avLst>
                </a:prstGeom>
                <a:solidFill>
                  <a:srgbClr val="FFFFFF">
                    <a:alpha val="11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  <p:txBody>
                <a:bodyPr/>
                <a:lstStyle/>
                <a:p>
                  <a:endParaRPr lang="en-IN" dirty="0"/>
                </a:p>
              </p:txBody>
            </p:sp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1980452B-0A19-DD19-08A3-5AE706962139}"/>
                    </a:ext>
                  </a:extLst>
                </p:cNvPr>
                <p:cNvGrpSpPr/>
                <p:nvPr/>
              </p:nvGrpSpPr>
              <p:grpSpPr>
                <a:xfrm>
                  <a:off x="4524146" y="1348918"/>
                  <a:ext cx="3225288" cy="2066544"/>
                  <a:chOff x="4486023" y="1335024"/>
                  <a:chExt cx="3225288" cy="2066544"/>
                </a:xfrm>
              </p:grpSpPr>
              <p:sp>
                <p:nvSpPr>
                  <p:cNvPr id="30" name="Text 25"/>
                  <p:cNvSpPr/>
                  <p:nvPr/>
                </p:nvSpPr>
                <p:spPr>
                  <a:xfrm>
                    <a:off x="6998079" y="1358062"/>
                    <a:ext cx="713232" cy="23774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680" b="1" kern="0" spc="160" dirty="0">
                        <a:solidFill>
                          <a:srgbClr val="5EEA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CONCEPT</a:t>
                    </a:r>
                    <a:endParaRPr lang="en-US" sz="680" dirty="0"/>
                  </a:p>
                </p:txBody>
              </p:sp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1B779912-55E2-62B0-C819-BCAF7C61900C}"/>
                      </a:ext>
                    </a:extLst>
                  </p:cNvPr>
                  <p:cNvGrpSpPr/>
                  <p:nvPr/>
                </p:nvGrpSpPr>
                <p:grpSpPr>
                  <a:xfrm>
                    <a:off x="4486023" y="1335024"/>
                    <a:ext cx="3207411" cy="2066544"/>
                    <a:chOff x="4505858" y="1335024"/>
                    <a:chExt cx="3207411" cy="2066544"/>
                  </a:xfrm>
                </p:grpSpPr>
                <p:sp>
                  <p:nvSpPr>
                    <p:cNvPr id="25" name="Shape 20"/>
                    <p:cNvSpPr/>
                    <p:nvPr/>
                  </p:nvSpPr>
                  <p:spPr>
                    <a:xfrm>
                      <a:off x="4505858" y="1453896"/>
                      <a:ext cx="91440" cy="91440"/>
                    </a:xfrm>
                    <a:prstGeom prst="ellipse">
                      <a:avLst/>
                    </a:prstGeom>
                    <a:solidFill>
                      <a:srgbClr val="FF6B6B"/>
                    </a:solidFill>
                    <a:ln/>
                  </p:spPr>
                </p:sp>
                <p:sp>
                  <p:nvSpPr>
                    <p:cNvPr id="26" name="Shape 21"/>
                    <p:cNvSpPr/>
                    <p:nvPr/>
                  </p:nvSpPr>
                  <p:spPr>
                    <a:xfrm>
                      <a:off x="4661306" y="1453896"/>
                      <a:ext cx="91440" cy="91440"/>
                    </a:xfrm>
                    <a:prstGeom prst="ellipse">
                      <a:avLst/>
                    </a:prstGeom>
                    <a:solidFill>
                      <a:srgbClr val="FFD166"/>
                    </a:solidFill>
                    <a:ln/>
                  </p:spPr>
                </p:sp>
                <p:sp>
                  <p:nvSpPr>
                    <p:cNvPr id="27" name="Shape 22"/>
                    <p:cNvSpPr/>
                    <p:nvPr/>
                  </p:nvSpPr>
                  <p:spPr>
                    <a:xfrm>
                      <a:off x="4816754" y="1453896"/>
                      <a:ext cx="91440" cy="91440"/>
                    </a:xfrm>
                    <a:prstGeom prst="ellipse">
                      <a:avLst/>
                    </a:prstGeom>
                    <a:solidFill>
                      <a:srgbClr val="5FD068"/>
                    </a:solidFill>
                    <a:ln/>
                  </p:spPr>
                </p:sp>
                <p:sp>
                  <p:nvSpPr>
                    <p:cNvPr id="28" name="Text 23"/>
                    <p:cNvSpPr/>
                    <p:nvPr/>
                  </p:nvSpPr>
                  <p:spPr>
                    <a:xfrm>
                      <a:off x="5008778" y="1335024"/>
                      <a:ext cx="2036978" cy="329184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Dashboard</a:t>
                      </a:r>
                      <a:endParaRPr lang="en-US" sz="1050" dirty="0"/>
                    </a:p>
                  </p:txBody>
                </p:sp>
                <p:sp>
                  <p:nvSpPr>
                    <p:cNvPr id="29" name="Shape 24"/>
                    <p:cNvSpPr/>
                    <p:nvPr/>
                  </p:nvSpPr>
                  <p:spPr>
                    <a:xfrm>
                      <a:off x="7000037" y="1380744"/>
                      <a:ext cx="713232" cy="2377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FFFFFF">
                        <a:alpha val="15000"/>
                      </a:srgbClr>
                    </a:solidFill>
                    <a:ln w="12700">
                      <a:solidFill>
                        <a:srgbClr val="5EEAFF">
                          <a:alpha val="75000"/>
                        </a:srgb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IN" dirty="0"/>
                    </a:p>
                  </p:txBody>
                </p:sp>
                <p:sp>
                  <p:nvSpPr>
                    <p:cNvPr id="31" name="Shape 26"/>
                    <p:cNvSpPr/>
                    <p:nvPr/>
                  </p:nvSpPr>
                  <p:spPr>
                    <a:xfrm>
                      <a:off x="4505858" y="1792224"/>
                      <a:ext cx="1525981" cy="512064"/>
                    </a:xfrm>
                    <a:prstGeom prst="roundRect">
                      <a:avLst>
                        <a:gd name="adj" fmla="val 14286"/>
                      </a:avLst>
                    </a:prstGeom>
                    <a:solidFill>
                      <a:srgbClr val="FFFFFF">
                        <a:alpha val="7000"/>
                      </a:srgbClr>
                    </a:solidFill>
                    <a:ln w="9525">
                      <a:solidFill>
                        <a:srgbClr val="8FE3FF">
                          <a:alpha val="35000"/>
                        </a:srgbClr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en-IN" dirty="0"/>
                    </a:p>
                  </p:txBody>
                </p:sp>
                <p:sp>
                  <p:nvSpPr>
                    <p:cNvPr id="32" name="Text 27"/>
                    <p:cNvSpPr/>
                    <p:nvPr/>
                  </p:nvSpPr>
                  <p:spPr>
                    <a:xfrm>
                      <a:off x="4597298" y="1828800"/>
                      <a:ext cx="1343101" cy="281635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b"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E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/>
                    </a:p>
                  </p:txBody>
                </p:sp>
                <p:sp>
                  <p:nvSpPr>
                    <p:cNvPr id="33" name="Text 28"/>
                    <p:cNvSpPr/>
                    <p:nvPr/>
                  </p:nvSpPr>
                  <p:spPr>
                    <a:xfrm>
                      <a:off x="4597298" y="2078980"/>
                      <a:ext cx="1343101" cy="20482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8C9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</a:t>
                      </a:r>
                      <a:endParaRPr lang="en-US" sz="800" dirty="0"/>
                    </a:p>
                  </p:txBody>
                </p:sp>
                <p:sp>
                  <p:nvSpPr>
                    <p:cNvPr id="34" name="Shape 29"/>
                    <p:cNvSpPr/>
                    <p:nvPr/>
                  </p:nvSpPr>
                  <p:spPr>
                    <a:xfrm>
                      <a:off x="6159856" y="1792224"/>
                      <a:ext cx="1525981" cy="512064"/>
                    </a:xfrm>
                    <a:prstGeom prst="roundRect">
                      <a:avLst>
                        <a:gd name="adj" fmla="val 14286"/>
                      </a:avLst>
                    </a:prstGeom>
                    <a:solidFill>
                      <a:srgbClr val="FFFFFF">
                        <a:alpha val="7000"/>
                      </a:srgbClr>
                    </a:solidFill>
                    <a:ln w="9525">
                      <a:solidFill>
                        <a:srgbClr val="8FE3FF">
                          <a:alpha val="35000"/>
                        </a:srgbClr>
                      </a:solidFill>
                      <a:prstDash val="solid"/>
                    </a:ln>
                  </p:spPr>
                </p:sp>
                <p:sp>
                  <p:nvSpPr>
                    <p:cNvPr id="35" name="Text 30"/>
                    <p:cNvSpPr/>
                    <p:nvPr/>
                  </p:nvSpPr>
                  <p:spPr>
                    <a:xfrm>
                      <a:off x="6251296" y="1828800"/>
                      <a:ext cx="1343101" cy="281635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b"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E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/>
                    </a:p>
                  </p:txBody>
                </p:sp>
                <p:sp>
                  <p:nvSpPr>
                    <p:cNvPr id="36" name="Text 31"/>
                    <p:cNvSpPr/>
                    <p:nvPr/>
                  </p:nvSpPr>
                  <p:spPr>
                    <a:xfrm>
                      <a:off x="6251296" y="2078980"/>
                      <a:ext cx="1343101" cy="20482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8C9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Reviews</a:t>
                      </a:r>
                      <a:endParaRPr lang="en-US" sz="800" dirty="0"/>
                    </a:p>
                  </p:txBody>
                </p:sp>
                <p:pic>
                  <p:nvPicPr>
                    <p:cNvPr id="37" name="Image 3" descr="icons/checkcircle_cyan.png"/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4505858" y="2478024"/>
                      <a:ext cx="237744" cy="23774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8" name="Text 32"/>
                    <p:cNvSpPr/>
                    <p:nvPr/>
                  </p:nvSpPr>
                  <p:spPr>
                    <a:xfrm>
                      <a:off x="4871618" y="2432304"/>
                      <a:ext cx="2814218" cy="31089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7C2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Attendance</a:t>
                      </a:r>
                      <a:endParaRPr lang="en-US" sz="1150" dirty="0"/>
                    </a:p>
                  </p:txBody>
                </p:sp>
                <p:pic>
                  <p:nvPicPr>
                    <p:cNvPr id="39" name="Image 4" descr="icons/statschart_cyan.png"/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4505858" y="2807208"/>
                      <a:ext cx="237744" cy="23774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0" name="Text 33"/>
                    <p:cNvSpPr/>
                    <p:nvPr/>
                  </p:nvSpPr>
                  <p:spPr>
                    <a:xfrm>
                      <a:off x="4871618" y="2761488"/>
                      <a:ext cx="2814218" cy="31089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7C2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Marks</a:t>
                      </a:r>
                      <a:endParaRPr lang="en-US" sz="1150" dirty="0"/>
                    </a:p>
                  </p:txBody>
                </p:sp>
                <p:pic>
                  <p:nvPicPr>
                    <p:cNvPr id="41" name="Image 5" descr="icons/megaphone_cyan.png"/>
                    <p:cNvPicPr>
                      <a:picLocks noChangeAspect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4505858" y="3136392"/>
                      <a:ext cx="237744" cy="23774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2" name="Text 34"/>
                    <p:cNvSpPr/>
                    <p:nvPr/>
                  </p:nvSpPr>
                  <p:spPr>
                    <a:xfrm>
                      <a:off x="4871618" y="3090672"/>
                      <a:ext cx="2814218" cy="31089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7C2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Announcements</a:t>
                      </a:r>
                      <a:endParaRPr lang="en-US" sz="1150" dirty="0"/>
                    </a:p>
                  </p:txBody>
                </p:sp>
              </p:grpSp>
            </p:grpSp>
          </p:grp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D0E21059-8BDD-065D-E683-6428781A74FB}"/>
                  </a:ext>
                </a:extLst>
              </p:cNvPr>
              <p:cNvGrpSpPr/>
              <p:nvPr/>
            </p:nvGrpSpPr>
            <p:grpSpPr>
              <a:xfrm>
                <a:off x="8121100" y="1335024"/>
                <a:ext cx="3545738" cy="2121408"/>
                <a:chOff x="8121100" y="1335024"/>
                <a:chExt cx="3545738" cy="2121408"/>
              </a:xfrm>
            </p:grpSpPr>
            <p:sp>
              <p:nvSpPr>
                <p:cNvPr id="48" name="Shape 40"/>
                <p:cNvSpPr/>
                <p:nvPr/>
              </p:nvSpPr>
              <p:spPr>
                <a:xfrm>
                  <a:off x="10743294" y="1394460"/>
                  <a:ext cx="713232" cy="2377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>
                    <a:alpha val="15000"/>
                  </a:srgbClr>
                </a:solidFill>
                <a:ln w="12700">
                  <a:solidFill>
                    <a:srgbClr val="5EEAFF">
                      <a:alpha val="7500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en-IN" dirty="0"/>
                </a:p>
              </p:txBody>
            </p:sp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D8A22ABC-2B9F-FCF1-30FE-491945FE49B8}"/>
                    </a:ext>
                  </a:extLst>
                </p:cNvPr>
                <p:cNvGrpSpPr/>
                <p:nvPr/>
              </p:nvGrpSpPr>
              <p:grpSpPr>
                <a:xfrm>
                  <a:off x="8121100" y="1335024"/>
                  <a:ext cx="3545738" cy="2121408"/>
                  <a:chOff x="8143037" y="1335024"/>
                  <a:chExt cx="3545738" cy="2121408"/>
                </a:xfrm>
              </p:grpSpPr>
              <p:sp>
                <p:nvSpPr>
                  <p:cNvPr id="43" name="Shape 35"/>
                  <p:cNvSpPr/>
                  <p:nvPr/>
                </p:nvSpPr>
                <p:spPr>
                  <a:xfrm>
                    <a:off x="8143037" y="1335024"/>
                    <a:ext cx="3545738" cy="2121408"/>
                  </a:xfrm>
                  <a:prstGeom prst="roundRect">
                    <a:avLst>
                      <a:gd name="adj" fmla="val 6034"/>
                    </a:avLst>
                  </a:prstGeom>
                  <a:solidFill>
                    <a:srgbClr val="FFFFFF">
                      <a:alpha val="11000"/>
                    </a:srgbClr>
                  </a:solidFill>
                  <a:ln w="12700">
                    <a:solidFill>
                      <a:srgbClr val="8FE3FF">
                        <a:alpha val="42000"/>
                      </a:srgbClr>
                    </a:solidFill>
                    <a:prstDash val="solid"/>
                  </a:ln>
                  <a:effectLst>
                    <a:outerShdw blurRad="203200" dist="76200" dir="5400000" algn="bl" rotWithShape="0">
                      <a:srgbClr val="01030A">
                        <a:alpha val="55000"/>
                      </a:srgbClr>
                    </a:outerShdw>
                  </a:effectLst>
                </p:spPr>
              </p:sp>
              <p:sp>
                <p:nvSpPr>
                  <p:cNvPr id="44" name="Shape 36"/>
                  <p:cNvSpPr/>
                  <p:nvPr/>
                </p:nvSpPr>
                <p:spPr>
                  <a:xfrm>
                    <a:off x="8325917" y="1453896"/>
                    <a:ext cx="91440" cy="91440"/>
                  </a:xfrm>
                  <a:prstGeom prst="ellipse">
                    <a:avLst/>
                  </a:prstGeom>
                  <a:solidFill>
                    <a:srgbClr val="FF6B6B"/>
                  </a:solidFill>
                  <a:ln/>
                </p:spPr>
              </p:sp>
              <p:sp>
                <p:nvSpPr>
                  <p:cNvPr id="45" name="Shape 37"/>
                  <p:cNvSpPr/>
                  <p:nvPr/>
                </p:nvSpPr>
                <p:spPr>
                  <a:xfrm>
                    <a:off x="8481365" y="1453896"/>
                    <a:ext cx="91440" cy="91440"/>
                  </a:xfrm>
                  <a:prstGeom prst="ellipse">
                    <a:avLst/>
                  </a:prstGeom>
                  <a:solidFill>
                    <a:srgbClr val="FFD166"/>
                  </a:solidFill>
                  <a:ln/>
                </p:spPr>
              </p:sp>
              <p:sp>
                <p:nvSpPr>
                  <p:cNvPr id="46" name="Shape 38"/>
                  <p:cNvSpPr/>
                  <p:nvPr/>
                </p:nvSpPr>
                <p:spPr>
                  <a:xfrm>
                    <a:off x="8636813" y="1453896"/>
                    <a:ext cx="91440" cy="91440"/>
                  </a:xfrm>
                  <a:prstGeom prst="ellipse">
                    <a:avLst/>
                  </a:prstGeom>
                  <a:solidFill>
                    <a:srgbClr val="5FD068"/>
                  </a:solidFill>
                  <a:ln/>
                </p:spPr>
              </p:sp>
              <p:sp>
                <p:nvSpPr>
                  <p:cNvPr id="47" name="Text 39"/>
                  <p:cNvSpPr/>
                  <p:nvPr/>
                </p:nvSpPr>
                <p:spPr>
                  <a:xfrm>
                    <a:off x="8828837" y="1335024"/>
                    <a:ext cx="2036978" cy="32918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05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Department Dashboard</a:t>
                    </a:r>
                    <a:endParaRPr lang="en-US" sz="1050" dirty="0"/>
                  </a:p>
                </p:txBody>
              </p:sp>
              <p:sp>
                <p:nvSpPr>
                  <p:cNvPr id="49" name="Text 41"/>
                  <p:cNvSpPr/>
                  <p:nvPr/>
                </p:nvSpPr>
                <p:spPr>
                  <a:xfrm>
                    <a:off x="10820095" y="1380744"/>
                    <a:ext cx="713232" cy="237744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680" b="1" kern="0" spc="160" dirty="0">
                        <a:solidFill>
                          <a:srgbClr val="5EEA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CONCEPT</a:t>
                    </a:r>
                    <a:endParaRPr lang="en-US" sz="680" dirty="0"/>
                  </a:p>
                </p:txBody>
              </p:sp>
              <p:sp>
                <p:nvSpPr>
                  <p:cNvPr id="50" name="Shape 42"/>
                  <p:cNvSpPr/>
                  <p:nvPr/>
                </p:nvSpPr>
                <p:spPr>
                  <a:xfrm>
                    <a:off x="8325917" y="1792224"/>
                    <a:ext cx="1525981" cy="512064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FFFFFF">
                      <a:alpha val="7000"/>
                    </a:srgbClr>
                  </a:solidFill>
                  <a:ln w="9525">
                    <a:solidFill>
                      <a:srgbClr val="8FE3FF">
                        <a:alpha val="35000"/>
                      </a:srgbClr>
                    </a:solidFill>
                    <a:prstDash val="solid"/>
                  </a:ln>
                </p:spPr>
              </p:sp>
              <p:sp>
                <p:nvSpPr>
                  <p:cNvPr id="51" name="Text 43"/>
                  <p:cNvSpPr/>
                  <p:nvPr/>
                </p:nvSpPr>
                <p:spPr>
                  <a:xfrm>
                    <a:off x="8417357" y="1828800"/>
                    <a:ext cx="1343101" cy="28163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b"/>
                  <a:lstStyle/>
                  <a:p>
                    <a:pPr marL="0" indent="0" algn="l">
                      <a:buNone/>
                    </a:pPr>
                    <a:r>
                      <a:rPr lang="en-US" sz="1300" b="1" dirty="0">
                        <a:solidFill>
                          <a:srgbClr val="5EEA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3</a:t>
                    </a:r>
                    <a:endParaRPr lang="en-US" sz="1300" dirty="0"/>
                  </a:p>
                </p:txBody>
              </p:sp>
              <p:sp>
                <p:nvSpPr>
                  <p:cNvPr id="52" name="Text 44"/>
                  <p:cNvSpPr/>
                  <p:nvPr/>
                </p:nvSpPr>
                <p:spPr>
                  <a:xfrm>
                    <a:off x="8417357" y="2078980"/>
                    <a:ext cx="1343101" cy="20482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buNone/>
                    </a:pPr>
                    <a:r>
                      <a:rPr lang="en-US" sz="800" dirty="0">
                        <a:solidFill>
                          <a:srgbClr val="8C97B3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Notices Today</a:t>
                    </a:r>
                    <a:endParaRPr lang="en-US" sz="800" dirty="0"/>
                  </a:p>
                </p:txBody>
              </p:sp>
              <p:sp>
                <p:nvSpPr>
                  <p:cNvPr id="53" name="Shape 45"/>
                  <p:cNvSpPr/>
                  <p:nvPr/>
                </p:nvSpPr>
                <p:spPr>
                  <a:xfrm>
                    <a:off x="9979914" y="1792224"/>
                    <a:ext cx="1525981" cy="512064"/>
                  </a:xfrm>
                  <a:prstGeom prst="roundRect">
                    <a:avLst>
                      <a:gd name="adj" fmla="val 14286"/>
                    </a:avLst>
                  </a:prstGeom>
                  <a:solidFill>
                    <a:srgbClr val="FFFFFF">
                      <a:alpha val="7000"/>
                    </a:srgbClr>
                  </a:solidFill>
                  <a:ln w="9525">
                    <a:solidFill>
                      <a:srgbClr val="8FE3FF">
                        <a:alpha val="35000"/>
                      </a:srgbClr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en-IN" dirty="0"/>
                  </a:p>
                </p:txBody>
              </p:sp>
              <p:sp>
                <p:nvSpPr>
                  <p:cNvPr id="54" name="Text 46"/>
                  <p:cNvSpPr/>
                  <p:nvPr/>
                </p:nvSpPr>
                <p:spPr>
                  <a:xfrm>
                    <a:off x="10071354" y="1828800"/>
                    <a:ext cx="1343101" cy="281635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b"/>
                  <a:lstStyle/>
                  <a:p>
                    <a:pPr marL="0" indent="0" algn="l">
                      <a:buNone/>
                    </a:pPr>
                    <a:r>
                      <a:rPr lang="en-US" sz="1300" b="1" dirty="0">
                        <a:solidFill>
                          <a:srgbClr val="5EEAFF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1</a:t>
                    </a:r>
                    <a:endParaRPr lang="en-US" sz="1300" dirty="0"/>
                  </a:p>
                </p:txBody>
              </p:sp>
              <p:sp>
                <p:nvSpPr>
                  <p:cNvPr id="55" name="Text 47"/>
                  <p:cNvSpPr/>
                  <p:nvPr/>
                </p:nvSpPr>
                <p:spPr>
                  <a:xfrm>
                    <a:off x="10071354" y="2078980"/>
                    <a:ext cx="1343101" cy="20482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buNone/>
                    </a:pPr>
                    <a:r>
                      <a:rPr lang="en-US" sz="800" dirty="0">
                        <a:solidFill>
                          <a:srgbClr val="8C97B3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Event This Week</a:t>
                    </a:r>
                    <a:endParaRPr lang="en-US" sz="800" dirty="0"/>
                  </a:p>
                </p:txBody>
              </p:sp>
              <p:pic>
                <p:nvPicPr>
                  <p:cNvPr id="56" name="Image 6" descr="icons/calendar_cyan.png"/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8325917" y="2478024"/>
                    <a:ext cx="237744" cy="237744"/>
                  </a:xfrm>
                  <a:prstGeom prst="rect">
                    <a:avLst/>
                  </a:prstGeom>
                </p:spPr>
              </p:pic>
              <p:sp>
                <p:nvSpPr>
                  <p:cNvPr id="57" name="Text 48"/>
                  <p:cNvSpPr/>
                  <p:nvPr/>
                </p:nvSpPr>
                <p:spPr>
                  <a:xfrm>
                    <a:off x="8691677" y="2432304"/>
                    <a:ext cx="2814218" cy="31089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150" dirty="0">
                        <a:solidFill>
                          <a:srgbClr val="B7C2D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Academic Calendar</a:t>
                    </a:r>
                    <a:endParaRPr lang="en-US" sz="1150" dirty="0"/>
                  </a:p>
                </p:txBody>
              </p:sp>
              <p:pic>
                <p:nvPicPr>
                  <p:cNvPr id="58" name="Image 7" descr="icons/library_cyan.png"/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325917" y="2807208"/>
                    <a:ext cx="237744" cy="237744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 49"/>
                  <p:cNvSpPr/>
                  <p:nvPr/>
                </p:nvSpPr>
                <p:spPr>
                  <a:xfrm>
                    <a:off x="8691677" y="2761488"/>
                    <a:ext cx="2814218" cy="31089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150" dirty="0">
                        <a:solidFill>
                          <a:srgbClr val="B7C2D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Resource Library</a:t>
                    </a:r>
                    <a:endParaRPr lang="en-US" sz="1150" dirty="0"/>
                  </a:p>
                </p:txBody>
              </p:sp>
              <p:pic>
                <p:nvPicPr>
                  <p:cNvPr id="60" name="Image 8" descr="icons/people_cyan.png"/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8325917" y="3136392"/>
                    <a:ext cx="237744" cy="237744"/>
                  </a:xfrm>
                  <a:prstGeom prst="rect">
                    <a:avLst/>
                  </a:prstGeom>
                </p:spPr>
              </p:pic>
              <p:sp>
                <p:nvSpPr>
                  <p:cNvPr id="61" name="Text 50"/>
                  <p:cNvSpPr/>
                  <p:nvPr/>
                </p:nvSpPr>
                <p:spPr>
                  <a:xfrm>
                    <a:off x="8691677" y="3090672"/>
                    <a:ext cx="2814218" cy="310896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150" dirty="0">
                        <a:solidFill>
                          <a:srgbClr val="B7C2D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rPr>
                      <a:t>User Management</a:t>
                    </a:r>
                    <a:endParaRPr lang="en-US" sz="1150" dirty="0"/>
                  </a:p>
                </p:txBody>
              </p:sp>
            </p:grpSp>
          </p:grp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01D0E556-641C-D9CC-4389-17FF6846B003}"/>
                  </a:ext>
                </a:extLst>
              </p:cNvPr>
              <p:cNvGrpSpPr/>
              <p:nvPr/>
            </p:nvGrpSpPr>
            <p:grpSpPr>
              <a:xfrm>
                <a:off x="503225" y="3653028"/>
                <a:ext cx="3545738" cy="2267712"/>
                <a:chOff x="503225" y="3653028"/>
                <a:chExt cx="3545738" cy="2267712"/>
              </a:xfrm>
            </p:grpSpPr>
            <p:sp>
              <p:nvSpPr>
                <p:cNvPr id="62" name="Shape 51"/>
                <p:cNvSpPr/>
                <p:nvPr/>
              </p:nvSpPr>
              <p:spPr>
                <a:xfrm>
                  <a:off x="503225" y="3653028"/>
                  <a:ext cx="3545738" cy="2267712"/>
                </a:xfrm>
                <a:prstGeom prst="roundRect">
                  <a:avLst>
                    <a:gd name="adj" fmla="val 5645"/>
                  </a:avLst>
                </a:prstGeom>
                <a:solidFill>
                  <a:srgbClr val="FFFFFF">
                    <a:alpha val="10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  <p:txBody>
                <a:bodyPr/>
                <a:lstStyle/>
                <a:p>
                  <a:endParaRPr lang="en-IN" dirty="0"/>
                </a:p>
              </p:txBody>
            </p:sp>
            <p:sp>
              <p:nvSpPr>
                <p:cNvPr id="63" name="Text 52"/>
                <p:cNvSpPr/>
                <p:nvPr/>
              </p:nvSpPr>
              <p:spPr>
                <a:xfrm>
                  <a:off x="704088" y="3858768"/>
                  <a:ext cx="3143402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kern="0" spc="100" dirty="0">
                      <a:solidFill>
                        <a:srgbClr val="5EEA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STUDENT FEATURES</a:t>
                  </a:r>
                  <a:endParaRPr lang="en-US" sz="1250" dirty="0"/>
                </a:p>
              </p:txBody>
            </p:sp>
            <p:pic>
              <p:nvPicPr>
                <p:cNvPr id="64" name="Image 9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088" y="4233672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65" name="Text 53"/>
                <p:cNvSpPr/>
                <p:nvPr/>
              </p:nvSpPr>
              <p:spPr>
                <a:xfrm>
                  <a:off x="941832" y="4178808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Subject-wise Attendance</a:t>
                  </a:r>
                  <a:endParaRPr lang="en-US" sz="1150" dirty="0"/>
                </a:p>
              </p:txBody>
            </p:sp>
            <p:pic>
              <p:nvPicPr>
                <p:cNvPr id="66" name="Image 10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088" y="4567428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67" name="Text 54"/>
                <p:cNvSpPr/>
                <p:nvPr/>
              </p:nvSpPr>
              <p:spPr>
                <a:xfrm>
                  <a:off x="941832" y="4512564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Study Materials</a:t>
                  </a:r>
                  <a:endParaRPr lang="en-US" sz="1150" dirty="0"/>
                </a:p>
              </p:txBody>
            </p:sp>
            <p:pic>
              <p:nvPicPr>
                <p:cNvPr id="68" name="Image 11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088" y="4901184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69" name="Text 55"/>
                <p:cNvSpPr/>
                <p:nvPr/>
              </p:nvSpPr>
              <p:spPr>
                <a:xfrm>
                  <a:off x="941832" y="4846320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Assignment Tracking</a:t>
                  </a:r>
                  <a:endParaRPr lang="en-US" sz="1150" dirty="0"/>
                </a:p>
              </p:txBody>
            </p:sp>
            <p:pic>
              <p:nvPicPr>
                <p:cNvPr id="70" name="Image 12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088" y="5234940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71" name="Text 56"/>
                <p:cNvSpPr/>
                <p:nvPr/>
              </p:nvSpPr>
              <p:spPr>
                <a:xfrm>
                  <a:off x="941832" y="5180076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Marks &amp; Performance</a:t>
                  </a:r>
                  <a:endParaRPr lang="en-US" sz="1150" dirty="0"/>
                </a:p>
              </p:txBody>
            </p:sp>
            <p:pic>
              <p:nvPicPr>
                <p:cNvPr id="72" name="Image 13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088" y="5568696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73" name="Text 57"/>
                <p:cNvSpPr/>
                <p:nvPr/>
              </p:nvSpPr>
              <p:spPr>
                <a:xfrm>
                  <a:off x="941832" y="5513832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Academic Resource Hub</a:t>
                  </a:r>
                  <a:endParaRPr lang="en-US" sz="1150" dirty="0"/>
                </a:p>
              </p:txBody>
            </p: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6FAA0167-3D2C-CE57-9F52-4E72D4125E9E}"/>
                  </a:ext>
                </a:extLst>
              </p:cNvPr>
              <p:cNvGrpSpPr/>
              <p:nvPr/>
            </p:nvGrpSpPr>
            <p:grpSpPr>
              <a:xfrm>
                <a:off x="4322978" y="3694176"/>
                <a:ext cx="3545738" cy="2267712"/>
                <a:chOff x="4322978" y="3694176"/>
                <a:chExt cx="3545738" cy="2267712"/>
              </a:xfrm>
            </p:grpSpPr>
            <p:sp>
              <p:nvSpPr>
                <p:cNvPr id="74" name="Shape 58"/>
                <p:cNvSpPr/>
                <p:nvPr/>
              </p:nvSpPr>
              <p:spPr>
                <a:xfrm>
                  <a:off x="4322978" y="3694176"/>
                  <a:ext cx="3545738" cy="2267712"/>
                </a:xfrm>
                <a:prstGeom prst="roundRect">
                  <a:avLst>
                    <a:gd name="adj" fmla="val 5645"/>
                  </a:avLst>
                </a:prstGeom>
                <a:solidFill>
                  <a:srgbClr val="FFFFFF">
                    <a:alpha val="10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75" name="Text 59"/>
                <p:cNvSpPr/>
                <p:nvPr/>
              </p:nvSpPr>
              <p:spPr>
                <a:xfrm>
                  <a:off x="4524146" y="3858768"/>
                  <a:ext cx="3143402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kern="0" spc="100" dirty="0">
                      <a:solidFill>
                        <a:srgbClr val="5EEA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TEACHER FEATURES</a:t>
                  </a:r>
                  <a:endParaRPr lang="en-US" sz="1250" dirty="0"/>
                </a:p>
              </p:txBody>
            </p:sp>
            <p:pic>
              <p:nvPicPr>
                <p:cNvPr id="76" name="Image 14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4146" y="4233672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77" name="Text 60"/>
                <p:cNvSpPr/>
                <p:nvPr/>
              </p:nvSpPr>
              <p:spPr>
                <a:xfrm>
                  <a:off x="4761890" y="4178808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Upload Materials</a:t>
                  </a:r>
                  <a:endParaRPr lang="en-US" sz="1150" dirty="0"/>
                </a:p>
              </p:txBody>
            </p:sp>
            <p:pic>
              <p:nvPicPr>
                <p:cNvPr id="78" name="Image 15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4146" y="4567428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79" name="Text 61"/>
                <p:cNvSpPr/>
                <p:nvPr/>
              </p:nvSpPr>
              <p:spPr>
                <a:xfrm>
                  <a:off x="4761890" y="4512564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Manage Assignments</a:t>
                  </a:r>
                  <a:endParaRPr lang="en-US" sz="1150" dirty="0"/>
                </a:p>
              </p:txBody>
            </p:sp>
            <p:pic>
              <p:nvPicPr>
                <p:cNvPr id="80" name="Image 16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4146" y="4901184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81" name="Text 62"/>
                <p:cNvSpPr/>
                <p:nvPr/>
              </p:nvSpPr>
              <p:spPr>
                <a:xfrm>
                  <a:off x="4761890" y="4846320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Record Attendance</a:t>
                  </a:r>
                  <a:endParaRPr lang="en-US" sz="1150" dirty="0"/>
                </a:p>
              </p:txBody>
            </p:sp>
            <p:pic>
              <p:nvPicPr>
                <p:cNvPr id="82" name="Image 17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4146" y="5234940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83" name="Text 63"/>
                <p:cNvSpPr/>
                <p:nvPr/>
              </p:nvSpPr>
              <p:spPr>
                <a:xfrm>
                  <a:off x="4761890" y="5180076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Manage Marks</a:t>
                  </a:r>
                  <a:endParaRPr lang="en-US" sz="1150" dirty="0"/>
                </a:p>
              </p:txBody>
            </p:sp>
            <p:pic>
              <p:nvPicPr>
                <p:cNvPr id="84" name="Image 18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24146" y="5568696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85" name="Text 64"/>
                <p:cNvSpPr/>
                <p:nvPr/>
              </p:nvSpPr>
              <p:spPr>
                <a:xfrm>
                  <a:off x="4761890" y="5513832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Announcements</a:t>
                  </a:r>
                  <a:endParaRPr lang="en-US" sz="1150" dirty="0"/>
                </a:p>
              </p:txBody>
            </p:sp>
          </p:grp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6A1473B7-5CEB-EE88-8022-4D8DF753CAAA}"/>
                  </a:ext>
                </a:extLst>
              </p:cNvPr>
              <p:cNvGrpSpPr/>
              <p:nvPr/>
            </p:nvGrpSpPr>
            <p:grpSpPr>
              <a:xfrm>
                <a:off x="8143037" y="3694176"/>
                <a:ext cx="3545738" cy="2267712"/>
                <a:chOff x="8143037" y="3694176"/>
                <a:chExt cx="3545738" cy="2267712"/>
              </a:xfrm>
            </p:grpSpPr>
            <p:sp>
              <p:nvSpPr>
                <p:cNvPr id="86" name="Shape 65"/>
                <p:cNvSpPr/>
                <p:nvPr/>
              </p:nvSpPr>
              <p:spPr>
                <a:xfrm>
                  <a:off x="8143037" y="3694176"/>
                  <a:ext cx="3545738" cy="2267712"/>
                </a:xfrm>
                <a:prstGeom prst="roundRect">
                  <a:avLst>
                    <a:gd name="adj" fmla="val 5645"/>
                  </a:avLst>
                </a:prstGeom>
                <a:solidFill>
                  <a:srgbClr val="FFFFFF">
                    <a:alpha val="10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87" name="Text 66"/>
                <p:cNvSpPr/>
                <p:nvPr/>
              </p:nvSpPr>
              <p:spPr>
                <a:xfrm>
                  <a:off x="8344205" y="3858768"/>
                  <a:ext cx="3143402" cy="25603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250" b="1" kern="0" spc="100" dirty="0">
                      <a:solidFill>
                        <a:srgbClr val="5EEA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DEPARTMENT FEATURES</a:t>
                  </a:r>
                  <a:endParaRPr lang="en-US" sz="1250" dirty="0"/>
                </a:p>
              </p:txBody>
            </p:sp>
            <p:pic>
              <p:nvPicPr>
                <p:cNvPr id="88" name="Image 19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4205" y="4233672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89" name="Text 67"/>
                <p:cNvSpPr/>
                <p:nvPr/>
              </p:nvSpPr>
              <p:spPr>
                <a:xfrm>
                  <a:off x="8581949" y="4178808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Notifications</a:t>
                  </a:r>
                  <a:endParaRPr lang="en-US" sz="1150" dirty="0"/>
                </a:p>
              </p:txBody>
            </p:sp>
            <p:pic>
              <p:nvPicPr>
                <p:cNvPr id="90" name="Image 20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4205" y="4567428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91" name="Text 68"/>
                <p:cNvSpPr/>
                <p:nvPr/>
              </p:nvSpPr>
              <p:spPr>
                <a:xfrm>
                  <a:off x="8581949" y="4512564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Timetable &amp; Calendar</a:t>
                  </a:r>
                  <a:endParaRPr lang="en-US" sz="1150" dirty="0"/>
                </a:p>
              </p:txBody>
            </p:sp>
            <p:pic>
              <p:nvPicPr>
                <p:cNvPr id="92" name="Image 21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4205" y="4901184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93" name="Text 69"/>
                <p:cNvSpPr/>
                <p:nvPr/>
              </p:nvSpPr>
              <p:spPr>
                <a:xfrm>
                  <a:off x="8581949" y="4846320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User Management</a:t>
                  </a:r>
                  <a:endParaRPr lang="en-US" sz="1150" dirty="0"/>
                </a:p>
              </p:txBody>
            </p:sp>
            <p:pic>
              <p:nvPicPr>
                <p:cNvPr id="94" name="Image 22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4205" y="5234940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95" name="Text 70"/>
                <p:cNvSpPr/>
                <p:nvPr/>
              </p:nvSpPr>
              <p:spPr>
                <a:xfrm>
                  <a:off x="8581949" y="5180076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Resource Library</a:t>
                  </a:r>
                  <a:endParaRPr lang="en-US" sz="1150" dirty="0"/>
                </a:p>
              </p:txBody>
            </p:sp>
            <p:pic>
              <p:nvPicPr>
                <p:cNvPr id="96" name="Image 23" descr="icons/checkcircle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44205" y="5568696"/>
                  <a:ext cx="173736" cy="173736"/>
                </a:xfrm>
                <a:prstGeom prst="rect">
                  <a:avLst/>
                </a:prstGeom>
              </p:spPr>
            </p:pic>
            <p:sp>
              <p:nvSpPr>
                <p:cNvPr id="97" name="Text 71"/>
                <p:cNvSpPr/>
                <p:nvPr/>
              </p:nvSpPr>
              <p:spPr>
                <a:xfrm>
                  <a:off x="8581949" y="5513832"/>
                  <a:ext cx="2905658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50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Academic Information</a:t>
                  </a:r>
                  <a:endParaRPr lang="en-US" sz="1150" dirty="0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E65E3B24-686F-B7E9-CD17-F72CCD3C5612}"/>
                  </a:ext>
                </a:extLst>
              </p:cNvPr>
              <p:cNvGrpSpPr/>
              <p:nvPr/>
            </p:nvGrpSpPr>
            <p:grpSpPr>
              <a:xfrm>
                <a:off x="525164" y="1335024"/>
                <a:ext cx="3545738" cy="2125980"/>
                <a:chOff x="525164" y="1335024"/>
                <a:chExt cx="3545738" cy="2125980"/>
              </a:xfrm>
            </p:grpSpPr>
            <p:sp>
              <p:nvSpPr>
                <p:cNvPr id="5" name="Shape 3"/>
                <p:cNvSpPr/>
                <p:nvPr/>
              </p:nvSpPr>
              <p:spPr>
                <a:xfrm>
                  <a:off x="525164" y="1335024"/>
                  <a:ext cx="3545738" cy="2121408"/>
                </a:xfrm>
                <a:prstGeom prst="roundRect">
                  <a:avLst>
                    <a:gd name="adj" fmla="val 6034"/>
                  </a:avLst>
                </a:prstGeom>
                <a:solidFill>
                  <a:srgbClr val="FFFFFF">
                    <a:alpha val="11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628EC972-43E9-10C7-0723-429A8A8AEEE2}"/>
                    </a:ext>
                  </a:extLst>
                </p:cNvPr>
                <p:cNvGrpSpPr/>
                <p:nvPr/>
              </p:nvGrpSpPr>
              <p:grpSpPr>
                <a:xfrm>
                  <a:off x="713230" y="1394460"/>
                  <a:ext cx="3216555" cy="2066544"/>
                  <a:chOff x="731520" y="1353312"/>
                  <a:chExt cx="3216555" cy="2066544"/>
                </a:xfrm>
              </p:grpSpPr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3841700C-6D12-0AD1-83D3-6D9141413333}"/>
                      </a:ext>
                    </a:extLst>
                  </p:cNvPr>
                  <p:cNvGrpSpPr/>
                  <p:nvPr/>
                </p:nvGrpSpPr>
                <p:grpSpPr>
                  <a:xfrm>
                    <a:off x="832105" y="1371973"/>
                    <a:ext cx="3115970" cy="923544"/>
                    <a:chOff x="777240" y="1380744"/>
                    <a:chExt cx="3115970" cy="923544"/>
                  </a:xfrm>
                </p:grpSpPr>
                <p:sp>
                  <p:nvSpPr>
                    <p:cNvPr id="11" name="Text 9"/>
                    <p:cNvSpPr/>
                    <p:nvPr/>
                  </p:nvSpPr>
                  <p:spPr>
                    <a:xfrm>
                      <a:off x="3179978" y="1380744"/>
                      <a:ext cx="713232" cy="237744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680" b="1" kern="0" spc="160" dirty="0">
                          <a:solidFill>
                            <a:srgbClr val="5E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680" dirty="0"/>
                    </a:p>
                  </p:txBody>
                </p:sp>
                <p:sp>
                  <p:nvSpPr>
                    <p:cNvPr id="13" name="Text 11"/>
                    <p:cNvSpPr/>
                    <p:nvPr/>
                  </p:nvSpPr>
                  <p:spPr>
                    <a:xfrm>
                      <a:off x="777240" y="1828800"/>
                      <a:ext cx="1343101" cy="281635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b"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E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300" dirty="0"/>
                    </a:p>
                  </p:txBody>
                </p:sp>
                <p:sp>
                  <p:nvSpPr>
                    <p:cNvPr id="15" name="Shape 13"/>
                    <p:cNvSpPr/>
                    <p:nvPr/>
                  </p:nvSpPr>
                  <p:spPr>
                    <a:xfrm>
                      <a:off x="2339797" y="1792224"/>
                      <a:ext cx="1525981" cy="512064"/>
                    </a:xfrm>
                    <a:prstGeom prst="roundRect">
                      <a:avLst>
                        <a:gd name="adj" fmla="val 14286"/>
                      </a:avLst>
                    </a:prstGeom>
                    <a:solidFill>
                      <a:srgbClr val="FFFFFF">
                        <a:alpha val="7000"/>
                      </a:srgbClr>
                    </a:solidFill>
                    <a:ln w="9525">
                      <a:solidFill>
                        <a:srgbClr val="8FE3FF">
                          <a:alpha val="35000"/>
                        </a:srgbClr>
                      </a:solidFill>
                      <a:prstDash val="solid"/>
                    </a:ln>
                  </p:spPr>
                </p:sp>
                <p:sp>
                  <p:nvSpPr>
                    <p:cNvPr id="16" name="Text 14"/>
                    <p:cNvSpPr/>
                    <p:nvPr/>
                  </p:nvSpPr>
                  <p:spPr>
                    <a:xfrm>
                      <a:off x="2431237" y="1828800"/>
                      <a:ext cx="1343101" cy="281635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b"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EEA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/>
                    </a:p>
                  </p:txBody>
                </p:sp>
              </p:grpSp>
              <p:grpSp>
                <p:nvGrpSpPr>
                  <p:cNvPr id="121" name="Group 120">
                    <a:extLst>
                      <a:ext uri="{FF2B5EF4-FFF2-40B4-BE49-F238E27FC236}">
                        <a16:creationId xmlns:a16="http://schemas.microsoft.com/office/drawing/2014/main" id="{C4B89941-961A-C8F4-57E4-79218AE81C74}"/>
                      </a:ext>
                    </a:extLst>
                  </p:cNvPr>
                  <p:cNvGrpSpPr/>
                  <p:nvPr/>
                </p:nvGrpSpPr>
                <p:grpSpPr>
                  <a:xfrm>
                    <a:off x="731520" y="1353312"/>
                    <a:ext cx="3207410" cy="2066544"/>
                    <a:chOff x="685800" y="1335024"/>
                    <a:chExt cx="3207410" cy="2066544"/>
                  </a:xfrm>
                </p:grpSpPr>
                <p:sp>
                  <p:nvSpPr>
                    <p:cNvPr id="122" name="Shape 4">
                      <a:extLst>
                        <a:ext uri="{FF2B5EF4-FFF2-40B4-BE49-F238E27FC236}">
                          <a16:creationId xmlns:a16="http://schemas.microsoft.com/office/drawing/2014/main" id="{3F8CBF3E-1970-C499-124F-81831F350B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453896"/>
                      <a:ext cx="91440" cy="91440"/>
                    </a:xfrm>
                    <a:prstGeom prst="ellipse">
                      <a:avLst/>
                    </a:prstGeom>
                    <a:solidFill>
                      <a:srgbClr val="FF6B6B"/>
                    </a:solidFill>
                    <a:ln/>
                  </p:spPr>
                </p:sp>
                <p:sp>
                  <p:nvSpPr>
                    <p:cNvPr id="123" name="Shape 5">
                      <a:extLst>
                        <a:ext uri="{FF2B5EF4-FFF2-40B4-BE49-F238E27FC236}">
                          <a16:creationId xmlns:a16="http://schemas.microsoft.com/office/drawing/2014/main" id="{05206DD3-AFDC-2352-07D7-6723A995D5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1248" y="1453896"/>
                      <a:ext cx="91440" cy="91440"/>
                    </a:xfrm>
                    <a:prstGeom prst="ellipse">
                      <a:avLst/>
                    </a:prstGeom>
                    <a:solidFill>
                      <a:srgbClr val="FFD166"/>
                    </a:solidFill>
                    <a:ln/>
                  </p:spPr>
                </p:sp>
                <p:sp>
                  <p:nvSpPr>
                    <p:cNvPr id="124" name="Shape 6">
                      <a:extLst>
                        <a:ext uri="{FF2B5EF4-FFF2-40B4-BE49-F238E27FC236}">
                          <a16:creationId xmlns:a16="http://schemas.microsoft.com/office/drawing/2014/main" id="{B9BC4E45-3D6D-328F-0163-30FC1F645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6696" y="1453896"/>
                      <a:ext cx="91440" cy="91440"/>
                    </a:xfrm>
                    <a:prstGeom prst="ellipse">
                      <a:avLst/>
                    </a:prstGeom>
                    <a:solidFill>
                      <a:srgbClr val="5FD068"/>
                    </a:solidFill>
                    <a:ln/>
                  </p:spPr>
                </p:sp>
                <p:sp>
                  <p:nvSpPr>
                    <p:cNvPr id="125" name="Text 7">
                      <a:extLst>
                        <a:ext uri="{FF2B5EF4-FFF2-40B4-BE49-F238E27FC236}">
                          <a16:creationId xmlns:a16="http://schemas.microsoft.com/office/drawing/2014/main" id="{163D125E-DBE1-0337-49D1-59D7D95B8E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8720" y="1335024"/>
                      <a:ext cx="2036978" cy="329184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Dashboard</a:t>
                      </a:r>
                      <a:endParaRPr lang="en-US" sz="1050" dirty="0"/>
                    </a:p>
                  </p:txBody>
                </p:sp>
                <p:sp>
                  <p:nvSpPr>
                    <p:cNvPr id="126" name="Shape 8">
                      <a:extLst>
                        <a:ext uri="{FF2B5EF4-FFF2-40B4-BE49-F238E27FC236}">
                          <a16:creationId xmlns:a16="http://schemas.microsoft.com/office/drawing/2014/main" id="{74C2A7D6-CB27-6DC4-FB95-C5A4399264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978" y="1380744"/>
                      <a:ext cx="713232" cy="2377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FFFFFF">
                        <a:alpha val="15000"/>
                      </a:srgbClr>
                    </a:solidFill>
                    <a:ln w="12700">
                      <a:solidFill>
                        <a:srgbClr val="5EEAFF">
                          <a:alpha val="75000"/>
                        </a:srgbClr>
                      </a:solidFill>
                      <a:prstDash val="solid"/>
                    </a:ln>
                  </p:spPr>
                </p:sp>
                <p:sp>
                  <p:nvSpPr>
                    <p:cNvPr id="127" name="Shape 10">
                      <a:extLst>
                        <a:ext uri="{FF2B5EF4-FFF2-40B4-BE49-F238E27FC236}">
                          <a16:creationId xmlns:a16="http://schemas.microsoft.com/office/drawing/2014/main" id="{25E16281-4204-21A5-FCDB-3EF24696FE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792224"/>
                      <a:ext cx="1525981" cy="512064"/>
                    </a:xfrm>
                    <a:prstGeom prst="roundRect">
                      <a:avLst>
                        <a:gd name="adj" fmla="val 14286"/>
                      </a:avLst>
                    </a:prstGeom>
                    <a:solidFill>
                      <a:srgbClr val="FFFFFF">
                        <a:alpha val="7000"/>
                      </a:srgbClr>
                    </a:solidFill>
                    <a:ln w="9525">
                      <a:solidFill>
                        <a:srgbClr val="8FE3FF">
                          <a:alpha val="35000"/>
                        </a:srgbClr>
                      </a:solidFill>
                      <a:prstDash val="solid"/>
                    </a:ln>
                  </p:spPr>
                </p:sp>
                <p:sp>
                  <p:nvSpPr>
                    <p:cNvPr id="128" name="Text 12">
                      <a:extLst>
                        <a:ext uri="{FF2B5EF4-FFF2-40B4-BE49-F238E27FC236}">
                          <a16:creationId xmlns:a16="http://schemas.microsoft.com/office/drawing/2014/main" id="{A7B300A7-208F-A30D-580E-13DAEAB5D3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7240" y="2078980"/>
                      <a:ext cx="1343101" cy="20482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8C9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800" dirty="0"/>
                    </a:p>
                  </p:txBody>
                </p:sp>
                <p:sp>
                  <p:nvSpPr>
                    <p:cNvPr id="129" name="Text 15">
                      <a:extLst>
                        <a:ext uri="{FF2B5EF4-FFF2-40B4-BE49-F238E27FC236}">
                          <a16:creationId xmlns:a16="http://schemas.microsoft.com/office/drawing/2014/main" id="{92C6C731-3C93-CB00-88F4-F3F84584B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1237" y="2078980"/>
                      <a:ext cx="1343101" cy="20482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8C97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 Due</a:t>
                      </a:r>
                      <a:endParaRPr lang="en-US" sz="800" dirty="0"/>
                    </a:p>
                  </p:txBody>
                </p:sp>
                <p:pic>
                  <p:nvPicPr>
                    <p:cNvPr id="130" name="Image 0" descr="icons/statschart_cyan.png">
                      <a:extLst>
                        <a:ext uri="{FF2B5EF4-FFF2-40B4-BE49-F238E27FC236}">
                          <a16:creationId xmlns:a16="http://schemas.microsoft.com/office/drawing/2014/main" id="{64BE775C-D197-BBE2-66EC-70522A129C1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685800" y="2478024"/>
                      <a:ext cx="237744" cy="23774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1" name="Text 16">
                      <a:extLst>
                        <a:ext uri="{FF2B5EF4-FFF2-40B4-BE49-F238E27FC236}">
                          <a16:creationId xmlns:a16="http://schemas.microsoft.com/office/drawing/2014/main" id="{D381CDB3-DD1D-9A73-90CD-C445A20354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560" y="2432304"/>
                      <a:ext cx="2814218" cy="31089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7C2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&amp; Performance</a:t>
                      </a:r>
                      <a:endParaRPr lang="en-US" sz="1150" dirty="0"/>
                    </a:p>
                  </p:txBody>
                </p:sp>
                <p:pic>
                  <p:nvPicPr>
                    <p:cNvPr id="132" name="Image 1" descr="icons/calendar_cyan.png">
                      <a:extLst>
                        <a:ext uri="{FF2B5EF4-FFF2-40B4-BE49-F238E27FC236}">
                          <a16:creationId xmlns:a16="http://schemas.microsoft.com/office/drawing/2014/main" id="{32AAD368-4889-C9BF-509F-9DE9C350D49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>
                      <a:off x="685800" y="2807208"/>
                      <a:ext cx="237744" cy="23774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3" name="Text 17">
                      <a:extLst>
                        <a:ext uri="{FF2B5EF4-FFF2-40B4-BE49-F238E27FC236}">
                          <a16:creationId xmlns:a16="http://schemas.microsoft.com/office/drawing/2014/main" id="{E76E3A6E-A9E4-0D08-AB72-F9E1E175F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560" y="2761488"/>
                      <a:ext cx="2814218" cy="31089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7C2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Timetable</a:t>
                      </a:r>
                      <a:endParaRPr lang="en-US" sz="1150" dirty="0"/>
                    </a:p>
                  </p:txBody>
                </p:sp>
                <p:pic>
                  <p:nvPicPr>
                    <p:cNvPr id="134" name="Image 2" descr="icons/documenttext_cyan.png">
                      <a:extLst>
                        <a:ext uri="{FF2B5EF4-FFF2-40B4-BE49-F238E27FC236}">
                          <a16:creationId xmlns:a16="http://schemas.microsoft.com/office/drawing/2014/main" id="{0991A865-83DC-7D96-1458-7C03164C6E6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685800" y="3136392"/>
                      <a:ext cx="237744" cy="237744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35" name="Text 18">
                      <a:extLst>
                        <a:ext uri="{FF2B5EF4-FFF2-40B4-BE49-F238E27FC236}">
                          <a16:creationId xmlns:a16="http://schemas.microsoft.com/office/drawing/2014/main" id="{6476873F-A573-17AC-2608-6949CBBF9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1560" y="3090672"/>
                      <a:ext cx="2814218" cy="310896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B7C2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Materials</a:t>
                      </a:r>
                      <a:endParaRPr lang="en-US" sz="1150" dirty="0"/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CC7A9AA-4480-039D-B790-8A0763A98C8C}"/>
              </a:ext>
            </a:extLst>
          </p:cNvPr>
          <p:cNvGrpSpPr/>
          <p:nvPr/>
        </p:nvGrpSpPr>
        <p:grpSpPr>
          <a:xfrm>
            <a:off x="0" y="502920"/>
            <a:ext cx="12191695" cy="5285232"/>
            <a:chOff x="0" y="502920"/>
            <a:chExt cx="12191695" cy="5285232"/>
          </a:xfrm>
        </p:grpSpPr>
        <p:sp>
          <p:nvSpPr>
            <p:cNvPr id="2" name="Text 0"/>
            <p:cNvSpPr/>
            <p:nvPr/>
          </p:nvSpPr>
          <p:spPr>
            <a:xfrm>
              <a:off x="0" y="502920"/>
              <a:ext cx="1219169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kern="0" spc="300" dirty="0">
                  <a:solidFill>
                    <a:srgbClr val="5EEA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OUR VISION</a:t>
              </a:r>
              <a:endParaRPr lang="en-US" sz="20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1097280" y="868680"/>
              <a:ext cx="9997135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18000"/>
                </a:lnSpc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One</a:t>
              </a: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Platform. One Department.</a:t>
              </a:r>
              <a:endParaRPr lang="en-US" sz="2700" dirty="0"/>
            </a:p>
            <a:p>
              <a:pPr marL="0" indent="0" algn="ctr">
                <a:lnSpc>
                  <a:spcPct val="118000"/>
                </a:lnSpc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Better Academic Management.</a:t>
              </a:r>
              <a:endParaRPr lang="en-US" sz="27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1097280" y="1837944"/>
              <a:ext cx="10108785" cy="795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28000"/>
                </a:lnSpc>
                <a:buNone/>
              </a:pPr>
              <a:r>
                <a:rPr lang="en-US" dirty="0">
                  <a:solidFill>
                    <a:srgbClr val="B7C2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Our goal is to create a centralized platform where students can access and track academic information, teachers can manage academic content, and the department can organize resources and communication</a:t>
              </a:r>
              <a:r>
                <a:rPr lang="en-US" sz="1250" dirty="0">
                  <a:solidFill>
                    <a:srgbClr val="B7C2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250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4C5621E-C4EE-008C-E6D5-9444C5ADC247}"/>
                </a:ext>
              </a:extLst>
            </p:cNvPr>
            <p:cNvGrpSpPr/>
            <p:nvPr/>
          </p:nvGrpSpPr>
          <p:grpSpPr>
            <a:xfrm>
              <a:off x="502920" y="2907792"/>
              <a:ext cx="11185855" cy="2084832"/>
              <a:chOff x="502920" y="2907792"/>
              <a:chExt cx="11185855" cy="208483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8A271CB-6555-74C2-B670-51425B668DEA}"/>
                  </a:ext>
                </a:extLst>
              </p:cNvPr>
              <p:cNvGrpSpPr/>
              <p:nvPr/>
            </p:nvGrpSpPr>
            <p:grpSpPr>
              <a:xfrm>
                <a:off x="502920" y="2907792"/>
                <a:ext cx="3533546" cy="2084832"/>
                <a:chOff x="502920" y="2907792"/>
                <a:chExt cx="3533546" cy="2084832"/>
              </a:xfrm>
            </p:grpSpPr>
            <p:sp>
              <p:nvSpPr>
                <p:cNvPr id="5" name="Shape 3"/>
                <p:cNvSpPr/>
                <p:nvPr/>
              </p:nvSpPr>
              <p:spPr>
                <a:xfrm>
                  <a:off x="502920" y="2907792"/>
                  <a:ext cx="3533546" cy="2084832"/>
                </a:xfrm>
                <a:prstGeom prst="roundRect">
                  <a:avLst>
                    <a:gd name="adj" fmla="val 7018"/>
                  </a:avLst>
                </a:prstGeom>
                <a:solidFill>
                  <a:srgbClr val="FFFFFF">
                    <a:alpha val="10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6" name="Shape 4"/>
                <p:cNvSpPr/>
                <p:nvPr/>
              </p:nvSpPr>
              <p:spPr>
                <a:xfrm>
                  <a:off x="1940509" y="3145536"/>
                  <a:ext cx="658368" cy="658368"/>
                </a:xfrm>
                <a:prstGeom prst="ellipse">
                  <a:avLst/>
                </a:prstGeom>
                <a:solidFill>
                  <a:srgbClr val="FFFFFF">
                    <a:alpha val="13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7" name="Image 0" descr="icons/school_cyan.png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05101" y="3310128"/>
                  <a:ext cx="329184" cy="329184"/>
                </a:xfrm>
                <a:prstGeom prst="rect">
                  <a:avLst/>
                </a:prstGeom>
              </p:spPr>
            </p:pic>
            <p:sp>
              <p:nvSpPr>
                <p:cNvPr id="8" name="Text 5"/>
                <p:cNvSpPr/>
                <p:nvPr/>
              </p:nvSpPr>
              <p:spPr>
                <a:xfrm>
                  <a:off x="502920" y="3931920"/>
                  <a:ext cx="3533546" cy="29260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50" b="1" kern="0" spc="150" dirty="0">
                      <a:solidFill>
                        <a:srgbClr val="5EEA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STUDENTS</a:t>
                  </a:r>
                  <a:endParaRPr lang="en-US" sz="1550" dirty="0"/>
                </a:p>
              </p:txBody>
            </p:sp>
            <p:sp>
              <p:nvSpPr>
                <p:cNvPr id="9" name="Text 6"/>
                <p:cNvSpPr/>
                <p:nvPr/>
              </p:nvSpPr>
              <p:spPr>
                <a:xfrm>
                  <a:off x="640080" y="4325112"/>
                  <a:ext cx="3259226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lnSpc>
                      <a:spcPct val="120000"/>
                    </a:lnSpc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Access  •  Track  •  Learn</a:t>
                  </a:r>
                  <a:endParaRPr lang="en-US" sz="1150" dirty="0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5575FB6-216F-3140-0F1A-646E92280FB5}"/>
                  </a:ext>
                </a:extLst>
              </p:cNvPr>
              <p:cNvGrpSpPr/>
              <p:nvPr/>
            </p:nvGrpSpPr>
            <p:grpSpPr>
              <a:xfrm>
                <a:off x="4329074" y="2907792"/>
                <a:ext cx="3533546" cy="2084832"/>
                <a:chOff x="4329074" y="2907792"/>
                <a:chExt cx="3533546" cy="2084832"/>
              </a:xfrm>
            </p:grpSpPr>
            <p:sp>
              <p:nvSpPr>
                <p:cNvPr id="10" name="Shape 7"/>
                <p:cNvSpPr/>
                <p:nvPr/>
              </p:nvSpPr>
              <p:spPr>
                <a:xfrm>
                  <a:off x="4329074" y="2907792"/>
                  <a:ext cx="3533546" cy="2084832"/>
                </a:xfrm>
                <a:prstGeom prst="roundRect">
                  <a:avLst>
                    <a:gd name="adj" fmla="val 7018"/>
                  </a:avLst>
                </a:prstGeom>
                <a:solidFill>
                  <a:srgbClr val="FFFFFF">
                    <a:alpha val="10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11" name="Shape 8"/>
                <p:cNvSpPr/>
                <p:nvPr/>
              </p:nvSpPr>
              <p:spPr>
                <a:xfrm>
                  <a:off x="5766664" y="3145536"/>
                  <a:ext cx="658368" cy="658368"/>
                </a:xfrm>
                <a:prstGeom prst="ellipse">
                  <a:avLst/>
                </a:prstGeom>
                <a:solidFill>
                  <a:srgbClr val="FFFFFF">
                    <a:alpha val="13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12" name="Image 1" descr="icons/easel_cyan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31256" y="3310128"/>
                  <a:ext cx="329184" cy="329184"/>
                </a:xfrm>
                <a:prstGeom prst="rect">
                  <a:avLst/>
                </a:prstGeom>
              </p:spPr>
            </p:pic>
            <p:sp>
              <p:nvSpPr>
                <p:cNvPr id="13" name="Text 9"/>
                <p:cNvSpPr/>
                <p:nvPr/>
              </p:nvSpPr>
              <p:spPr>
                <a:xfrm>
                  <a:off x="4329074" y="3931920"/>
                  <a:ext cx="3533546" cy="29260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50" b="1" kern="0" spc="150" dirty="0">
                      <a:solidFill>
                        <a:srgbClr val="5EEA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TEACHERS</a:t>
                  </a:r>
                  <a:endParaRPr lang="en-US" sz="1550" dirty="0"/>
                </a:p>
              </p:txBody>
            </p:sp>
            <p:sp>
              <p:nvSpPr>
                <p:cNvPr id="14" name="Text 10"/>
                <p:cNvSpPr/>
                <p:nvPr/>
              </p:nvSpPr>
              <p:spPr>
                <a:xfrm>
                  <a:off x="4466234" y="4325112"/>
                  <a:ext cx="3259226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lnSpc>
                      <a:spcPct val="120000"/>
                    </a:lnSpc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Share  •  Manage  •  Evaluate</a:t>
                  </a:r>
                  <a:endParaRPr lang="en-US" sz="1150" dirty="0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5F7DFA-0557-F529-DB6C-4B9B75E15D1A}"/>
                  </a:ext>
                </a:extLst>
              </p:cNvPr>
              <p:cNvGrpSpPr/>
              <p:nvPr/>
            </p:nvGrpSpPr>
            <p:grpSpPr>
              <a:xfrm>
                <a:off x="8155229" y="2907792"/>
                <a:ext cx="3533546" cy="2084832"/>
                <a:chOff x="8155229" y="2907792"/>
                <a:chExt cx="3533546" cy="2084832"/>
              </a:xfrm>
            </p:grpSpPr>
            <p:sp>
              <p:nvSpPr>
                <p:cNvPr id="15" name="Shape 11"/>
                <p:cNvSpPr/>
                <p:nvPr/>
              </p:nvSpPr>
              <p:spPr>
                <a:xfrm>
                  <a:off x="8155229" y="2907792"/>
                  <a:ext cx="3533546" cy="2084832"/>
                </a:xfrm>
                <a:prstGeom prst="roundRect">
                  <a:avLst>
                    <a:gd name="adj" fmla="val 7018"/>
                  </a:avLst>
                </a:prstGeom>
                <a:solidFill>
                  <a:srgbClr val="FFFFFF">
                    <a:alpha val="10000"/>
                  </a:srgbClr>
                </a:solidFill>
                <a:ln w="12700">
                  <a:solidFill>
                    <a:srgbClr val="8FE3FF">
                      <a:alpha val="42000"/>
                    </a:srgbClr>
                  </a:solidFill>
                  <a:prstDash val="solid"/>
                </a:ln>
                <a:effectLst>
                  <a:outerShdw blurRad="203200" dist="76200" dir="5400000" algn="bl" rotWithShape="0">
                    <a:srgbClr val="01030A">
                      <a:alpha val="55000"/>
                    </a:srgbClr>
                  </a:outerShdw>
                </a:effectLst>
              </p:spPr>
            </p:sp>
            <p:sp>
              <p:nvSpPr>
                <p:cNvPr id="16" name="Shape 12"/>
                <p:cNvSpPr/>
                <p:nvPr/>
              </p:nvSpPr>
              <p:spPr>
                <a:xfrm>
                  <a:off x="9592818" y="3145536"/>
                  <a:ext cx="658368" cy="658368"/>
                </a:xfrm>
                <a:prstGeom prst="ellipse">
                  <a:avLst/>
                </a:prstGeom>
                <a:solidFill>
                  <a:srgbClr val="FFFFFF">
                    <a:alpha val="13000"/>
                  </a:srgbClr>
                </a:solidFill>
                <a:ln w="12700">
                  <a:solidFill>
                    <a:srgbClr val="8FE3FF">
                      <a:alpha val="60000"/>
                    </a:srgbClr>
                  </a:solidFill>
                  <a:prstDash val="solid"/>
                </a:ln>
              </p:spPr>
            </p:sp>
            <p:pic>
              <p:nvPicPr>
                <p:cNvPr id="17" name="Image 2" descr="icons/business_cyan.png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57410" y="3310128"/>
                  <a:ext cx="329184" cy="329184"/>
                </a:xfrm>
                <a:prstGeom prst="rect">
                  <a:avLst/>
                </a:prstGeom>
              </p:spPr>
            </p:pic>
            <p:sp>
              <p:nvSpPr>
                <p:cNvPr id="18" name="Text 13"/>
                <p:cNvSpPr/>
                <p:nvPr/>
              </p:nvSpPr>
              <p:spPr>
                <a:xfrm>
                  <a:off x="8155229" y="3931920"/>
                  <a:ext cx="3533546" cy="29260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550" b="1" kern="0" spc="150" dirty="0">
                      <a:solidFill>
                        <a:srgbClr val="5EEA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DEPARTMENT</a:t>
                  </a:r>
                  <a:endParaRPr lang="en-US" sz="1550" dirty="0"/>
                </a:p>
              </p:txBody>
            </p:sp>
            <p:sp>
              <p:nvSpPr>
                <p:cNvPr id="19" name="Text 14"/>
                <p:cNvSpPr/>
                <p:nvPr/>
              </p:nvSpPr>
              <p:spPr>
                <a:xfrm>
                  <a:off x="8292389" y="4325112"/>
                  <a:ext cx="3259226" cy="4572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lnSpc>
                      <a:spcPct val="120000"/>
                    </a:lnSpc>
                    <a:buNone/>
                  </a:pPr>
                  <a:r>
                    <a:rPr lang="en-US" sz="1150" dirty="0">
                      <a:solidFill>
                        <a:srgbClr val="B7C2D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Organize  •  Communicate  •  Monitor</a:t>
                  </a:r>
                  <a:endParaRPr lang="en-US" sz="1150" dirty="0"/>
                </a:p>
              </p:txBody>
            </p:sp>
          </p:grpSp>
        </p:grpSp>
        <p:sp>
          <p:nvSpPr>
            <p:cNvPr id="20" name="Text 15"/>
            <p:cNvSpPr/>
            <p:nvPr/>
          </p:nvSpPr>
          <p:spPr>
            <a:xfrm>
              <a:off x="0" y="5285232"/>
              <a:ext cx="12191695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7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Thank You</a:t>
              </a:r>
              <a:endParaRPr lang="en-US" sz="2700" dirty="0"/>
            </a:p>
          </p:txBody>
        </p:sp>
      </p:grpSp>
      <p:sp>
        <p:nvSpPr>
          <p:cNvPr id="21" name="Text 16"/>
          <p:cNvSpPr/>
          <p:nvPr/>
        </p:nvSpPr>
        <p:spPr>
          <a:xfrm>
            <a:off x="0" y="5815584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8C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0EAAD6-0F4D-0339-BBAD-D5BF8C1B41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712" y="129081"/>
            <a:ext cx="1113616" cy="730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92DE2C1-9E5B-0E76-A216-12A186DF0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A57B632-3A9D-1405-E5D3-2E1B117AE654}"/>
              </a:ext>
            </a:extLst>
          </p:cNvPr>
          <p:cNvGrpSpPr/>
          <p:nvPr/>
        </p:nvGrpSpPr>
        <p:grpSpPr>
          <a:xfrm>
            <a:off x="350840" y="173423"/>
            <a:ext cx="11494064" cy="6156370"/>
            <a:chOff x="350840" y="173423"/>
            <a:chExt cx="11494064" cy="61563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44E18D-C415-D39E-F4F3-F956F5A5E994}"/>
                </a:ext>
              </a:extLst>
            </p:cNvPr>
            <p:cNvSpPr txBox="1"/>
            <p:nvPr/>
          </p:nvSpPr>
          <p:spPr>
            <a:xfrm>
              <a:off x="1589004" y="173423"/>
              <a:ext cx="7334765" cy="4770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2500" b="1">
                  <a:solidFill>
                    <a:srgbClr val="F8FAFC"/>
                  </a:solidFill>
                  <a:latin typeface="Aptos"/>
                </a:defRPr>
              </a:pPr>
              <a:r>
                <a:rPr dirty="0"/>
                <a:t>Survey Results – Current Challenges</a:t>
              </a:r>
              <a:r>
                <a:rPr lang="en-US" dirty="0"/>
                <a:t> (25/09/2026)</a:t>
              </a:r>
              <a:endParaRPr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9FC3BF-18D6-EEBD-5276-44FFD50B835B}"/>
                </a:ext>
              </a:extLst>
            </p:cNvPr>
            <p:cNvSpPr txBox="1"/>
            <p:nvPr/>
          </p:nvSpPr>
          <p:spPr>
            <a:xfrm>
              <a:off x="1695064" y="676511"/>
              <a:ext cx="10149840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0"/>
                </a:spcAft>
                <a:defRPr sz="950" b="0">
                  <a:solidFill>
                    <a:srgbClr val="BED7E6"/>
                  </a:solidFill>
                  <a:latin typeface="Aptos"/>
                </a:defRPr>
              </a:pPr>
              <a:r>
                <a:rPr sz="1400" dirty="0"/>
                <a:t>On 26/09/2026, we surveyed students to understand the academic problems they face in managing notes, PDFs and important WhatsApp updates. The responses show that finding old study material is a major difficulty, while important updates are also missed in group conversations. These findings support the need for a centralized academic portal.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A085F4-424E-3E4E-3AE9-E3114BECCE4B}"/>
                </a:ext>
              </a:extLst>
            </p:cNvPr>
            <p:cNvSpPr txBox="1"/>
            <p:nvPr/>
          </p:nvSpPr>
          <p:spPr>
            <a:xfrm>
              <a:off x="1589004" y="1369307"/>
              <a:ext cx="2350965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850" b="1">
                  <a:solidFill>
                    <a:srgbClr val="4CE2FF"/>
                  </a:solidFill>
                  <a:latin typeface="Aptos"/>
                </a:defRPr>
              </a:pPr>
              <a:r>
                <a:rPr sz="1200" dirty="0"/>
                <a:t>Q1–Q4 · STUDENT EXPERIENCE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DE526A4-29BD-02B8-7BE1-F712D5D46269}"/>
                </a:ext>
              </a:extLst>
            </p:cNvPr>
            <p:cNvGrpSpPr/>
            <p:nvPr/>
          </p:nvGrpSpPr>
          <p:grpSpPr>
            <a:xfrm>
              <a:off x="350840" y="1847741"/>
              <a:ext cx="5559552" cy="2176272"/>
              <a:chOff x="350840" y="1847741"/>
              <a:chExt cx="5559552" cy="2176272"/>
            </a:xfrm>
          </p:grpSpPr>
          <p:sp>
            <p:nvSpPr>
              <p:cNvPr id="13" name="Rounded Rectangle 6">
                <a:extLst>
                  <a:ext uri="{FF2B5EF4-FFF2-40B4-BE49-F238E27FC236}">
                    <a16:creationId xmlns:a16="http://schemas.microsoft.com/office/drawing/2014/main" id="{183DCF8E-3ADC-CC9B-A9F2-D21887860114}"/>
                  </a:ext>
                </a:extLst>
              </p:cNvPr>
              <p:cNvSpPr/>
              <p:nvPr/>
            </p:nvSpPr>
            <p:spPr>
              <a:xfrm>
                <a:off x="350840" y="1847741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5" name="Picture 14" descr="Q1_crop.png">
                <a:extLst>
                  <a:ext uri="{FF2B5EF4-FFF2-40B4-BE49-F238E27FC236}">
                    <a16:creationId xmlns:a16="http://schemas.microsoft.com/office/drawing/2014/main" id="{F43BAABC-2EDA-5563-94D5-B7E7B85F68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6152" y="1920893"/>
                <a:ext cx="4668926" cy="2029967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1FA023-263E-A281-12FA-E69E8F35CFFB}"/>
                </a:ext>
              </a:extLst>
            </p:cNvPr>
            <p:cNvGrpSpPr/>
            <p:nvPr/>
          </p:nvGrpSpPr>
          <p:grpSpPr>
            <a:xfrm>
              <a:off x="5962570" y="1867522"/>
              <a:ext cx="5559552" cy="2176272"/>
              <a:chOff x="5962570" y="1867522"/>
              <a:chExt cx="5559552" cy="2176272"/>
            </a:xfrm>
          </p:grpSpPr>
          <p:sp>
            <p:nvSpPr>
              <p:cNvPr id="17" name="Rounded Rectangle 8">
                <a:extLst>
                  <a:ext uri="{FF2B5EF4-FFF2-40B4-BE49-F238E27FC236}">
                    <a16:creationId xmlns:a16="http://schemas.microsoft.com/office/drawing/2014/main" id="{9F09DDC7-497A-C168-C18E-D37BF438452D}"/>
                  </a:ext>
                </a:extLst>
              </p:cNvPr>
              <p:cNvSpPr/>
              <p:nvPr/>
            </p:nvSpPr>
            <p:spPr>
              <a:xfrm>
                <a:off x="5962570" y="1867522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9" name="Picture 18" descr="image.png">
                <a:extLst>
                  <a:ext uri="{FF2B5EF4-FFF2-40B4-BE49-F238E27FC236}">
                    <a16:creationId xmlns:a16="http://schemas.microsoft.com/office/drawing/2014/main" id="{923AE792-8060-4AB3-6278-AE95D02219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2226" y="1920893"/>
                <a:ext cx="4439307" cy="2029967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D1B12CF-950E-472B-4C02-0BCA06FEFCC7}"/>
                </a:ext>
              </a:extLst>
            </p:cNvPr>
            <p:cNvGrpSpPr/>
            <p:nvPr/>
          </p:nvGrpSpPr>
          <p:grpSpPr>
            <a:xfrm>
              <a:off x="350840" y="4133740"/>
              <a:ext cx="5559552" cy="2176272"/>
              <a:chOff x="350840" y="4133740"/>
              <a:chExt cx="5559552" cy="2176272"/>
            </a:xfrm>
          </p:grpSpPr>
          <p:sp>
            <p:nvSpPr>
              <p:cNvPr id="21" name="Rounded Rectangle 10">
                <a:extLst>
                  <a:ext uri="{FF2B5EF4-FFF2-40B4-BE49-F238E27FC236}">
                    <a16:creationId xmlns:a16="http://schemas.microsoft.com/office/drawing/2014/main" id="{0AEDF614-D575-A4C1-BCB5-DF9D681BB417}"/>
                  </a:ext>
                </a:extLst>
              </p:cNvPr>
              <p:cNvSpPr/>
              <p:nvPr/>
            </p:nvSpPr>
            <p:spPr>
              <a:xfrm>
                <a:off x="350840" y="4133740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3" name="Picture 22" descr="image.png">
                <a:extLst>
                  <a:ext uri="{FF2B5EF4-FFF2-40B4-BE49-F238E27FC236}">
                    <a16:creationId xmlns:a16="http://schemas.microsoft.com/office/drawing/2014/main" id="{CF1CF9E7-DC52-D96A-C0AA-CA02CC7BCB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8818" y="4206892"/>
                <a:ext cx="4923595" cy="2029967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ADAE28B-FB52-95AC-20DA-25865998095F}"/>
                </a:ext>
              </a:extLst>
            </p:cNvPr>
            <p:cNvGrpSpPr/>
            <p:nvPr/>
          </p:nvGrpSpPr>
          <p:grpSpPr>
            <a:xfrm>
              <a:off x="5962570" y="4153521"/>
              <a:ext cx="5559552" cy="2176272"/>
              <a:chOff x="5962570" y="4153521"/>
              <a:chExt cx="5559552" cy="2176272"/>
            </a:xfrm>
          </p:grpSpPr>
          <p:sp>
            <p:nvSpPr>
              <p:cNvPr id="25" name="Rounded Rectangle 12">
                <a:extLst>
                  <a:ext uri="{FF2B5EF4-FFF2-40B4-BE49-F238E27FC236}">
                    <a16:creationId xmlns:a16="http://schemas.microsoft.com/office/drawing/2014/main" id="{CC8DC154-850D-88CF-0773-7D0B93469277}"/>
                  </a:ext>
                </a:extLst>
              </p:cNvPr>
              <p:cNvSpPr/>
              <p:nvPr/>
            </p:nvSpPr>
            <p:spPr>
              <a:xfrm>
                <a:off x="5962570" y="4153521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7" name="Picture 26" descr="image.png">
                <a:extLst>
                  <a:ext uri="{FF2B5EF4-FFF2-40B4-BE49-F238E27FC236}">
                    <a16:creationId xmlns:a16="http://schemas.microsoft.com/office/drawing/2014/main" id="{8702E11D-C501-CDC0-0502-56C98369A9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2691" y="4206892"/>
                <a:ext cx="4298376" cy="2029967"/>
              </a:xfrm>
              <a:prstGeom prst="rect">
                <a:avLst/>
              </a:prstGeom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E3BD696-738D-ABFF-7126-5EEE3B1A3A77}"/>
              </a:ext>
            </a:extLst>
          </p:cNvPr>
          <p:cNvSpPr txBox="1"/>
          <p:nvPr/>
        </p:nvSpPr>
        <p:spPr>
          <a:xfrm>
            <a:off x="0" y="6455664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8F9FB8"/>
                </a:solidFill>
                <a:latin typeface="Aptos"/>
              </a:defRPr>
            </a:pPr>
            <a:r>
              <a:t>DEPARTMENT OF COMPUTER SCIENCE &amp; ENGINEERING — ICB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CA5F-3963-F7BA-798E-54CD62E659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712" y="129081"/>
            <a:ext cx="1113616" cy="73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5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7290F77-9A49-8F44-C901-27204E99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3782039-9FED-DF78-96DF-0344B3FA6EE3}"/>
              </a:ext>
            </a:extLst>
          </p:cNvPr>
          <p:cNvGrpSpPr/>
          <p:nvPr/>
        </p:nvGrpSpPr>
        <p:grpSpPr>
          <a:xfrm>
            <a:off x="382556" y="116205"/>
            <a:ext cx="11401074" cy="6188583"/>
            <a:chOff x="382556" y="116205"/>
            <a:chExt cx="11401074" cy="618858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F731FD7-2434-26E8-0E36-5CE6A81ABE0F}"/>
                </a:ext>
              </a:extLst>
            </p:cNvPr>
            <p:cNvSpPr txBox="1"/>
            <p:nvPr/>
          </p:nvSpPr>
          <p:spPr>
            <a:xfrm>
              <a:off x="1542350" y="116205"/>
              <a:ext cx="10241280" cy="43891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2500" b="1">
                  <a:solidFill>
                    <a:srgbClr val="F8FAFC"/>
                  </a:solidFill>
                  <a:latin typeface="Aptos"/>
                </a:defRPr>
              </a:pPr>
              <a:r>
                <a:rPr dirty="0"/>
                <a:t>Survey Results – Proposed Features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0356A7-6DD4-12DB-93D7-2C3952CE5F64}"/>
                </a:ext>
              </a:extLst>
            </p:cNvPr>
            <p:cNvSpPr txBox="1"/>
            <p:nvPr/>
          </p:nvSpPr>
          <p:spPr>
            <a:xfrm>
              <a:off x="1633790" y="567203"/>
              <a:ext cx="10149840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0"/>
                </a:spcAft>
                <a:defRPr sz="950" b="0">
                  <a:solidFill>
                    <a:srgbClr val="BED7E6"/>
                  </a:solidFill>
                  <a:latin typeface="Aptos"/>
                </a:defRPr>
              </a:pPr>
              <a:r>
                <a:rPr sz="1400" dirty="0"/>
                <a:t>Students were asked how useful they would find attendance tracking, assignment and deadline tracking, previous-year question papers, and course/certification links. Most respondents rated these features as useful or very useful, indicating strong demand for tools that organize academic information and help students keep track of their work.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30CF64-A424-F7F5-E141-AB7A92AA7A00}"/>
                </a:ext>
              </a:extLst>
            </p:cNvPr>
            <p:cNvSpPr txBox="1"/>
            <p:nvPr/>
          </p:nvSpPr>
          <p:spPr>
            <a:xfrm>
              <a:off x="1542350" y="1353563"/>
              <a:ext cx="271997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850" b="1">
                  <a:solidFill>
                    <a:srgbClr val="4CE2FF"/>
                  </a:solidFill>
                  <a:latin typeface="Aptos"/>
                </a:defRPr>
              </a:pPr>
              <a:r>
                <a:rPr sz="1400" dirty="0"/>
                <a:t>Q5–Q8 · FEATURE USEFULNESS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148E60E-CFFA-42DD-F5E4-7921E73955C4}"/>
                </a:ext>
              </a:extLst>
            </p:cNvPr>
            <p:cNvGrpSpPr/>
            <p:nvPr/>
          </p:nvGrpSpPr>
          <p:grpSpPr>
            <a:xfrm>
              <a:off x="382556" y="1723644"/>
              <a:ext cx="5559552" cy="2231136"/>
              <a:chOff x="464665" y="1691640"/>
              <a:chExt cx="5559552" cy="2231136"/>
            </a:xfrm>
          </p:grpSpPr>
          <p:sp>
            <p:nvSpPr>
              <p:cNvPr id="13" name="Rounded Rectangle 6">
                <a:extLst>
                  <a:ext uri="{FF2B5EF4-FFF2-40B4-BE49-F238E27FC236}">
                    <a16:creationId xmlns:a16="http://schemas.microsoft.com/office/drawing/2014/main" id="{0F57ECB0-AA30-A653-0C4D-9FE871798C86}"/>
                  </a:ext>
                </a:extLst>
              </p:cNvPr>
              <p:cNvSpPr/>
              <p:nvPr/>
            </p:nvSpPr>
            <p:spPr>
              <a:xfrm>
                <a:off x="464665" y="1746504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DAF03EE0-846B-985C-D43E-DB9B8A67A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657" y="1691640"/>
                <a:ext cx="5077904" cy="2084831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26745C1-0EA2-7D0D-E617-94BBF30ACBE3}"/>
                </a:ext>
              </a:extLst>
            </p:cNvPr>
            <p:cNvGrpSpPr/>
            <p:nvPr/>
          </p:nvGrpSpPr>
          <p:grpSpPr>
            <a:xfrm>
              <a:off x="6051772" y="1778508"/>
              <a:ext cx="5648007" cy="2185416"/>
              <a:chOff x="6005928" y="1746504"/>
              <a:chExt cx="5648007" cy="2185416"/>
            </a:xfrm>
          </p:grpSpPr>
          <p:sp>
            <p:nvSpPr>
              <p:cNvPr id="17" name="Rounded Rectangle 8">
                <a:extLst>
                  <a:ext uri="{FF2B5EF4-FFF2-40B4-BE49-F238E27FC236}">
                    <a16:creationId xmlns:a16="http://schemas.microsoft.com/office/drawing/2014/main" id="{FF7F5245-FC57-6B31-9E14-20C1E98DC70F}"/>
                  </a:ext>
                </a:extLst>
              </p:cNvPr>
              <p:cNvSpPr/>
              <p:nvPr/>
            </p:nvSpPr>
            <p:spPr>
              <a:xfrm>
                <a:off x="6005928" y="1746504"/>
                <a:ext cx="5648007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19" name="Picture 18" descr="image.png">
                <a:extLst>
                  <a:ext uri="{FF2B5EF4-FFF2-40B4-BE49-F238E27FC236}">
                    <a16:creationId xmlns:a16="http://schemas.microsoft.com/office/drawing/2014/main" id="{03320107-2D34-DB55-A91D-ED43E8BB2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4663" y="1746504"/>
                <a:ext cx="5077905" cy="2185416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D20E961-4A2F-331D-8E06-D7EC54C10228}"/>
                </a:ext>
              </a:extLst>
            </p:cNvPr>
            <p:cNvGrpSpPr/>
            <p:nvPr/>
          </p:nvGrpSpPr>
          <p:grpSpPr>
            <a:xfrm>
              <a:off x="382556" y="4128516"/>
              <a:ext cx="5559552" cy="2176272"/>
              <a:chOff x="464665" y="4105656"/>
              <a:chExt cx="5559552" cy="2176272"/>
            </a:xfrm>
          </p:grpSpPr>
          <p:sp>
            <p:nvSpPr>
              <p:cNvPr id="21" name="Rounded Rectangle 10">
                <a:extLst>
                  <a:ext uri="{FF2B5EF4-FFF2-40B4-BE49-F238E27FC236}">
                    <a16:creationId xmlns:a16="http://schemas.microsoft.com/office/drawing/2014/main" id="{3A311CFA-5FBD-0BEB-AC91-48095ED4E899}"/>
                  </a:ext>
                </a:extLst>
              </p:cNvPr>
              <p:cNvSpPr/>
              <p:nvPr/>
            </p:nvSpPr>
            <p:spPr>
              <a:xfrm>
                <a:off x="464665" y="4105656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3" name="Picture 22" descr="image.png">
                <a:extLst>
                  <a:ext uri="{FF2B5EF4-FFF2-40B4-BE49-F238E27FC236}">
                    <a16:creationId xmlns:a16="http://schemas.microsoft.com/office/drawing/2014/main" id="{E8502873-6326-E715-5D8D-E13C74263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111" y="4105656"/>
                <a:ext cx="4963886" cy="2176272"/>
              </a:xfrm>
              <a:prstGeom prst="rect">
                <a:avLst/>
              </a:prstGeom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F7BC616-2E0B-86AF-778D-57E08B6806EE}"/>
                </a:ext>
              </a:extLst>
            </p:cNvPr>
            <p:cNvGrpSpPr/>
            <p:nvPr/>
          </p:nvGrpSpPr>
          <p:grpSpPr>
            <a:xfrm>
              <a:off x="6094476" y="4105656"/>
              <a:ext cx="5559552" cy="2176272"/>
              <a:chOff x="6005929" y="4105656"/>
              <a:chExt cx="5559552" cy="2176272"/>
            </a:xfrm>
          </p:grpSpPr>
          <p:sp>
            <p:nvSpPr>
              <p:cNvPr id="25" name="Rounded Rectangle 12">
                <a:extLst>
                  <a:ext uri="{FF2B5EF4-FFF2-40B4-BE49-F238E27FC236}">
                    <a16:creationId xmlns:a16="http://schemas.microsoft.com/office/drawing/2014/main" id="{0D0E2C1F-EF52-7352-FC2D-44A182E99198}"/>
                  </a:ext>
                </a:extLst>
              </p:cNvPr>
              <p:cNvSpPr/>
              <p:nvPr/>
            </p:nvSpPr>
            <p:spPr>
              <a:xfrm>
                <a:off x="6005929" y="4105656"/>
                <a:ext cx="5559552" cy="2176272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27" name="Picture 26" descr="image.png">
                <a:extLst>
                  <a:ext uri="{FF2B5EF4-FFF2-40B4-BE49-F238E27FC236}">
                    <a16:creationId xmlns:a16="http://schemas.microsoft.com/office/drawing/2014/main" id="{AD418DE5-5474-B010-1857-62554612F2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24663" y="4178808"/>
                <a:ext cx="5102226" cy="2029967"/>
              </a:xfrm>
              <a:prstGeom prst="rect">
                <a:avLst/>
              </a:prstGeom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D262ED7-6C02-40FD-BC3F-7646DF6594C5}"/>
              </a:ext>
            </a:extLst>
          </p:cNvPr>
          <p:cNvSpPr txBox="1"/>
          <p:nvPr/>
        </p:nvSpPr>
        <p:spPr>
          <a:xfrm>
            <a:off x="0" y="6455664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8F9FB8"/>
                </a:solidFill>
                <a:latin typeface="Aptos"/>
              </a:defRPr>
            </a:pPr>
            <a:r>
              <a:t>DEPARTMENT OF COMPUTER SCIENCE &amp; ENGINEERING — ICB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06A09-FA2C-FD7E-9AD9-2E92BD6D1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712" y="129081"/>
            <a:ext cx="1113616" cy="73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2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323DC38-9C26-5234-912B-3183B428E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DD079FB-6D74-F201-0556-048E9443465A}"/>
              </a:ext>
            </a:extLst>
          </p:cNvPr>
          <p:cNvGrpSpPr/>
          <p:nvPr/>
        </p:nvGrpSpPr>
        <p:grpSpPr>
          <a:xfrm>
            <a:off x="612648" y="114671"/>
            <a:ext cx="11144856" cy="6251791"/>
            <a:chOff x="612648" y="114671"/>
            <a:chExt cx="11144856" cy="625179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F09B34-FFD9-7CE6-B453-8311555772D3}"/>
                </a:ext>
              </a:extLst>
            </p:cNvPr>
            <p:cNvSpPr txBox="1"/>
            <p:nvPr/>
          </p:nvSpPr>
          <p:spPr>
            <a:xfrm>
              <a:off x="1516224" y="114671"/>
              <a:ext cx="10241280" cy="43891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2500" b="1">
                  <a:solidFill>
                    <a:srgbClr val="F8FAFC"/>
                  </a:solidFill>
                  <a:latin typeface="Aptos"/>
                </a:defRPr>
              </a:pPr>
              <a:r>
                <a:rPr dirty="0"/>
                <a:t>Survey Results – Feature Priorities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B446B1-6C3D-46A1-0194-81FEDDCFE3E7}"/>
                </a:ext>
              </a:extLst>
            </p:cNvPr>
            <p:cNvSpPr txBox="1"/>
            <p:nvPr/>
          </p:nvSpPr>
          <p:spPr>
            <a:xfrm>
              <a:off x="1607664" y="575883"/>
              <a:ext cx="10149840" cy="86177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spcAft>
                  <a:spcPts val="0"/>
                </a:spcAft>
                <a:defRPr sz="950" b="0">
                  <a:solidFill>
                    <a:srgbClr val="BED7E6"/>
                  </a:solidFill>
                  <a:latin typeface="Aptos"/>
                </a:defRPr>
              </a:pPr>
              <a:r>
                <a:rPr sz="1400" dirty="0"/>
                <a:t>The final survey question asked students which portal features they would want most. Study materials received the highest preference (48 students, 85.7%), followed by attendance (41, 73.2%). Question papers, activities and events, and courses/certifications were each selected by 31 students, showing that students want both core study resources and broader academic support.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32CBFC-12C4-854E-E8F7-BA35B574E820}"/>
                </a:ext>
              </a:extLst>
            </p:cNvPr>
            <p:cNvSpPr txBox="1"/>
            <p:nvPr/>
          </p:nvSpPr>
          <p:spPr>
            <a:xfrm>
              <a:off x="1516224" y="1423796"/>
              <a:ext cx="2291974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850" b="1">
                  <a:solidFill>
                    <a:srgbClr val="4CE2FF"/>
                  </a:solidFill>
                  <a:latin typeface="Aptos"/>
                </a:defRPr>
              </a:pPr>
              <a:r>
                <a:rPr sz="1200" dirty="0"/>
                <a:t>Q9 · </a:t>
              </a:r>
              <a:r>
                <a:rPr sz="1400" dirty="0"/>
                <a:t>FEATURE</a:t>
              </a:r>
              <a:r>
                <a:rPr sz="1200" dirty="0"/>
                <a:t> PREFERENCES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1289ECD-392D-4710-7281-A390C8051B9D}"/>
                </a:ext>
              </a:extLst>
            </p:cNvPr>
            <p:cNvGrpSpPr/>
            <p:nvPr/>
          </p:nvGrpSpPr>
          <p:grpSpPr>
            <a:xfrm>
              <a:off x="612648" y="1776174"/>
              <a:ext cx="10863072" cy="4590288"/>
              <a:chOff x="658368" y="1298448"/>
              <a:chExt cx="10863072" cy="4590288"/>
            </a:xfrm>
          </p:grpSpPr>
          <p:sp>
            <p:nvSpPr>
              <p:cNvPr id="13" name="Rounded Rectangle 6">
                <a:extLst>
                  <a:ext uri="{FF2B5EF4-FFF2-40B4-BE49-F238E27FC236}">
                    <a16:creationId xmlns:a16="http://schemas.microsoft.com/office/drawing/2014/main" id="{0E189F36-EBE3-90FC-E904-68F516AB51FC}"/>
                  </a:ext>
                </a:extLst>
              </p:cNvPr>
              <p:cNvSpPr/>
              <p:nvPr/>
            </p:nvSpPr>
            <p:spPr>
              <a:xfrm>
                <a:off x="658368" y="1298448"/>
                <a:ext cx="10863072" cy="4590288"/>
              </a:xfrm>
              <a:prstGeom prst="roundRect">
                <a:avLst/>
              </a:prstGeom>
              <a:solidFill>
                <a:srgbClr val="0F192A"/>
              </a:solidFill>
              <a:ln w="12700">
                <a:solidFill>
                  <a:srgbClr val="4193B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pic>
            <p:nvPicPr>
              <p:cNvPr id="15" name="Picture 14" descr="image.png">
                <a:extLst>
                  <a:ext uri="{FF2B5EF4-FFF2-40B4-BE49-F238E27FC236}">
                    <a16:creationId xmlns:a16="http://schemas.microsoft.com/office/drawing/2014/main" id="{C68CA97C-6DBF-A137-60A5-C36869C013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4924" y="1371600"/>
                <a:ext cx="9409959" cy="4443983"/>
              </a:xfrm>
              <a:prstGeom prst="rect">
                <a:avLst/>
              </a:prstGeom>
            </p:spPr>
          </p:pic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2FC1646-E75F-557B-023D-8850A210326B}"/>
              </a:ext>
            </a:extLst>
          </p:cNvPr>
          <p:cNvSpPr txBox="1"/>
          <p:nvPr/>
        </p:nvSpPr>
        <p:spPr>
          <a:xfrm>
            <a:off x="0" y="6455664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8F9FB8"/>
                </a:solidFill>
                <a:latin typeface="Aptos"/>
              </a:defRPr>
            </a:pPr>
            <a:r>
              <a:t>DEPARTMENT OF COMPUTER SCIENCE &amp; ENGINEERING — ICB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6AE478-9715-5C35-C764-870F77DC0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12" y="129081"/>
            <a:ext cx="1113616" cy="73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4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A033BAE-4152-13C2-2959-E60EF3E5D7F1}"/>
              </a:ext>
            </a:extLst>
          </p:cNvPr>
          <p:cNvSpPr txBox="1"/>
          <p:nvPr/>
        </p:nvSpPr>
        <p:spPr>
          <a:xfrm>
            <a:off x="2672080" y="2560320"/>
            <a:ext cx="7305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9839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583</Words>
  <Application>Microsoft Office PowerPoint</Application>
  <PresentationFormat>Widescreen</PresentationFormat>
  <Paragraphs>114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Imprint MT Shadow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(ICB) Department Integrated Academic and Information Portal</dc:title>
  <dc:subject>PptxGenJS Presentation</dc:subject>
  <dc:creator>CSE (ICB) Dept</dc:creator>
  <cp:lastModifiedBy>D V Manas Srujan</cp:lastModifiedBy>
  <cp:revision>5</cp:revision>
  <dcterms:created xsi:type="dcterms:W3CDTF">2026-09-25T06:58:04Z</dcterms:created>
  <dcterms:modified xsi:type="dcterms:W3CDTF">2026-09-26T08:30:33Z</dcterms:modified>
</cp:coreProperties>
</file>